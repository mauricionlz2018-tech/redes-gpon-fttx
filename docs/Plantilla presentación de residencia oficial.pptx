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Tahoma" panose="020B060403050404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88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3" Type="http://customschemas.google.com/relationships/presentationmetadata" Target="meta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Nolazco" userId="8e064c700b586176" providerId="LiveId" clId="{48E4426C-FD85-428B-8823-6908DB42E28D}"/>
    <pc:docChg chg="custSel modSld">
      <pc:chgData name="Mauricio Nolazco" userId="8e064c700b586176" providerId="LiveId" clId="{48E4426C-FD85-428B-8823-6908DB42E28D}" dt="2026-09-24T20:21:20.474" v="561" actId="1440"/>
      <pc:docMkLst>
        <pc:docMk/>
      </pc:docMkLst>
      <pc:sldChg chg="addSp delSp modSp mod">
        <pc:chgData name="Mauricio Nolazco" userId="8e064c700b586176" providerId="LiveId" clId="{48E4426C-FD85-428B-8823-6908DB42E28D}" dt="2026-09-24T20:21:20.474" v="561" actId="1440"/>
        <pc:sldMkLst>
          <pc:docMk/>
          <pc:sldMk cId="0" sldId="265"/>
        </pc:sldMkLst>
        <pc:spChg chg="del mod">
          <ac:chgData name="Mauricio Nolazco" userId="8e064c700b586176" providerId="LiveId" clId="{48E4426C-FD85-428B-8823-6908DB42E28D}" dt="2026-09-24T17:36:15.427" v="507"/>
          <ac:spMkLst>
            <pc:docMk/>
            <pc:sldMk cId="0" sldId="265"/>
            <ac:spMk id="170" creationId="{00000000-0000-0000-0000-000000000000}"/>
          </ac:spMkLst>
        </pc:spChg>
        <pc:picChg chg="add mod">
          <ac:chgData name="Mauricio Nolazco" userId="8e064c700b586176" providerId="LiveId" clId="{48E4426C-FD85-428B-8823-6908DB42E28D}" dt="2026-09-24T18:20:21.477" v="552" actId="1076"/>
          <ac:picMkLst>
            <pc:docMk/>
            <pc:sldMk cId="0" sldId="265"/>
            <ac:picMk id="2" creationId="{78F6BCC0-3617-36B2-93C5-14655A9D9FF0}"/>
          </ac:picMkLst>
        </pc:picChg>
        <pc:picChg chg="add mod">
          <ac:chgData name="Mauricio Nolazco" userId="8e064c700b586176" providerId="LiveId" clId="{48E4426C-FD85-428B-8823-6908DB42E28D}" dt="2026-09-24T18:20:24.942" v="554" actId="1076"/>
          <ac:picMkLst>
            <pc:docMk/>
            <pc:sldMk cId="0" sldId="265"/>
            <ac:picMk id="3" creationId="{4D5B106B-C4A7-E920-E501-8B97A4ECB477}"/>
          </ac:picMkLst>
        </pc:picChg>
        <pc:picChg chg="add mod">
          <ac:chgData name="Mauricio Nolazco" userId="8e064c700b586176" providerId="LiveId" clId="{48E4426C-FD85-428B-8823-6908DB42E28D}" dt="2026-09-24T18:20:28.730" v="556" actId="1076"/>
          <ac:picMkLst>
            <pc:docMk/>
            <pc:sldMk cId="0" sldId="265"/>
            <ac:picMk id="4" creationId="{113E8C31-745F-E560-9EB3-5C6C9391D8C0}"/>
          </ac:picMkLst>
        </pc:picChg>
        <pc:picChg chg="add del mod">
          <ac:chgData name="Mauricio Nolazco" userId="8e064c700b586176" providerId="LiveId" clId="{48E4426C-FD85-428B-8823-6908DB42E28D}" dt="2026-09-24T17:59:13.324" v="535" actId="478"/>
          <ac:picMkLst>
            <pc:docMk/>
            <pc:sldMk cId="0" sldId="265"/>
            <ac:picMk id="5" creationId="{7A2D7069-30B0-18D3-FB1E-4780F2CCC048}"/>
          </ac:picMkLst>
        </pc:picChg>
        <pc:picChg chg="add mod">
          <ac:chgData name="Mauricio Nolazco" userId="8e064c700b586176" providerId="LiveId" clId="{48E4426C-FD85-428B-8823-6908DB42E28D}" dt="2026-09-24T17:59:25.207" v="540" actId="1440"/>
          <ac:picMkLst>
            <pc:docMk/>
            <pc:sldMk cId="0" sldId="265"/>
            <ac:picMk id="6" creationId="{36A8CCAE-5579-F967-0E3A-F4E67DF59B52}"/>
          </ac:picMkLst>
        </pc:picChg>
        <pc:picChg chg="add mod modCrop">
          <ac:chgData name="Mauricio Nolazco" userId="8e064c700b586176" providerId="LiveId" clId="{48E4426C-FD85-428B-8823-6908DB42E28D}" dt="2026-09-24T18:20:22.774" v="553" actId="1076"/>
          <ac:picMkLst>
            <pc:docMk/>
            <pc:sldMk cId="0" sldId="265"/>
            <ac:picMk id="7" creationId="{99B6C722-A896-D03E-68C6-FD926DB1CA26}"/>
          </ac:picMkLst>
        </pc:picChg>
        <pc:picChg chg="add mod">
          <ac:chgData name="Mauricio Nolazco" userId="8e064c700b586176" providerId="LiveId" clId="{48E4426C-FD85-428B-8823-6908DB42E28D}" dt="2026-09-24T20:21:20.474" v="561" actId="1440"/>
          <ac:picMkLst>
            <pc:docMk/>
            <pc:sldMk cId="0" sldId="265"/>
            <ac:picMk id="9" creationId="{1E351702-9E63-5341-D8A1-D1F09B0FD65B}"/>
          </ac:picMkLst>
        </pc:picChg>
        <pc:picChg chg="mod modCrop">
          <ac:chgData name="Mauricio Nolazco" userId="8e064c700b586176" providerId="LiveId" clId="{48E4426C-FD85-428B-8823-6908DB42E28D}" dt="2026-09-24T18:20:10.800" v="548" actId="732"/>
          <ac:picMkLst>
            <pc:docMk/>
            <pc:sldMk cId="0" sldId="265"/>
            <ac:picMk id="171" creationId="{00000000-0000-0000-0000-000000000000}"/>
          </ac:picMkLst>
        </pc:picChg>
      </pc:sldChg>
      <pc:sldChg chg="modSp mod">
        <pc:chgData name="Mauricio Nolazco" userId="8e064c700b586176" providerId="LiveId" clId="{48E4426C-FD85-428B-8823-6908DB42E28D}" dt="2026-09-24T17:35:59.409" v="504" actId="20577"/>
        <pc:sldMkLst>
          <pc:docMk/>
          <pc:sldMk cId="0" sldId="268"/>
        </pc:sldMkLst>
        <pc:spChg chg="mod">
          <ac:chgData name="Mauricio Nolazco" userId="8e064c700b586176" providerId="LiveId" clId="{48E4426C-FD85-428B-8823-6908DB42E28D}" dt="2026-09-24T17:35:59.409" v="504" actId="20577"/>
          <ac:spMkLst>
            <pc:docMk/>
            <pc:sldMk cId="0" sldId="268"/>
            <ac:spMk id="215" creationId="{00000000-0000-0000-0000-000000000000}"/>
          </ac:spMkLst>
        </pc:spChg>
      </pc:sldChg>
      <pc:sldChg chg="modSp mod">
        <pc:chgData name="Mauricio Nolazco" userId="8e064c700b586176" providerId="LiveId" clId="{48E4426C-FD85-428B-8823-6908DB42E28D}" dt="2026-09-24T17:34:39.450" v="0" actId="20577"/>
        <pc:sldMkLst>
          <pc:docMk/>
          <pc:sldMk cId="0" sldId="270"/>
        </pc:sldMkLst>
        <pc:spChg chg="mod">
          <ac:chgData name="Mauricio Nolazco" userId="8e064c700b586176" providerId="LiveId" clId="{48E4426C-FD85-428B-8823-6908DB42E28D}" dt="2026-09-24T17:34:39.450" v="0" actId="20577"/>
          <ac:spMkLst>
            <pc:docMk/>
            <pc:sldMk cId="0" sldId="270"/>
            <ac:spMk id="23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Logo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sanj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1400">
                <a:solidFill>
                  <a:srgbClr val="7A1C35"/>
                </a:solidFill>
                <a:latin typeface="Arial"/>
              </a:rPr>
              <a:t>Octubre de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sz="1700" b="0" i="0">
                <a:solidFill>
                  <a:srgbClr val="505050"/>
                </a:solidFill>
                <a:latin typeface="Arial"/>
              </a:rPr>
              <a:t>Carrera: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Ingeniería en Sistemas Computacionales</a:t>
            </a:r>
          </a:p>
          <a:p>
            <a:pPr algn="ctr">
              <a:spcAft>
                <a:spcPts val="1200"/>
              </a:spcAft>
            </a:pPr>
            <a:r>
              <a:rPr sz="2100" b="1" i="0">
                <a:solidFill>
                  <a:srgbClr val="76923C"/>
                </a:solidFill>
                <a:latin typeface="Arial"/>
              </a:rPr>
              <a:t>“Sistema de Inventario y Mapeo Lógico de Redes GPON / FTTx”</a:t>
            </a:r>
          </a:p>
          <a:p>
            <a:pPr algn="ctr"/>
            <a:r>
              <a:rPr sz="1700" b="0" i="0">
                <a:solidFill>
                  <a:srgbClr val="505050"/>
                </a:solidFill>
                <a:latin typeface="Arial"/>
              </a:rPr>
              <a:t>Presenta:</a:t>
            </a:r>
          </a:p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Mauricio Nolazco Lonjino</a:t>
            </a:r>
          </a:p>
          <a:p>
            <a:pPr algn="ctr"/>
            <a:r>
              <a:rPr sz="1700" b="0" i="0">
                <a:solidFill>
                  <a:srgbClr val="505050"/>
                </a:solidFill>
                <a:latin typeface="Arial"/>
              </a:rPr>
              <a:t>Asesor Interno:</a:t>
            </a:r>
          </a:p>
          <a:p>
            <a:pPr algn="ctr"/>
            <a:r>
              <a:rPr sz="1900" b="1" i="0">
                <a:solidFill>
                  <a:srgbClr val="000000"/>
                </a:solidFill>
                <a:latin typeface="Arial"/>
              </a:rPr>
              <a:t>I.S.C. Leonardo Becerril Sánchez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Calibri"/>
              </a:rPr>
              <a:t>UNIVERSIDAD MEXIQUENSE DEL BICENTENARIO
</a:t>
            </a:r>
            <a:r>
              <a:rPr sz="2000" b="1" i="0">
                <a:solidFill>
                  <a:srgbClr val="000000"/>
                </a:solidFill>
                <a:latin typeface="Calibri"/>
              </a:rPr>
              <a:t>UNIDAD DE ESTUDIOS SUPERIORES SAN JOSÉ DEL RINCÓN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914400" y="1005840"/>
            <a:ext cx="7498079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1. Empresa (Ubicación Geográfica y Organigrama)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2. Introducción al Proyecto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3. Planteamiento del Problema y Pregunta de Investigación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4. Justificación Técnica y Operativa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5. Objetivos del Proyecto (General y Específicos)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6. Herramientas Tecnológicas (Stack de Software)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7. Evidencias de Avance Técnico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8. Cronograma de Actividades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9. Conclusiones Preliminares (Avance)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</a:pPr>
            <a:r>
              <a:t>10. Bibliografía y Referencias</a:t>
            </a: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2/15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lnSpc>
                <a:spcPct val="130000"/>
              </a:lnSpc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t>GPON TELECOM S.A. de C.V. es una empresa proveedora de servicios de telecomunicaciones e Internet de alta velocidad mediante fibra óptica (FTTx), ubicada en San José del Rincón, Estado de México, cuya misión operativa se enfoca en brindar conectividad digital confiable a comunidades urbanas y rurales mediante infraestructura pasiva GPON de última generación.</a:t>
            </a: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Empresa</a:t>
            </a:r>
            <a:endParaRPr sz="3500" b="0" i="0" u="none" strike="noStrike" cap="non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3/15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t="16890" r="2446"/>
          <a:stretch/>
        </p:blipFill>
        <p:spPr>
          <a:xfrm>
            <a:off x="1645920" y="2560320"/>
            <a:ext cx="5029200" cy="22402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" name="Google Shape;111;p3"/>
          <p:cNvSpPr txBox="1"/>
          <p:nvPr/>
        </p:nvSpPr>
        <p:spPr>
          <a:xfrm>
            <a:off x="731520" y="4892040"/>
            <a:ext cx="76809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alibri"/>
              </a:rPr>
              <a:t>Figura 1. Localización geográfica de la empresa GPON TELECOM S.A. de C.V.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Empresa</a:t>
            </a:r>
            <a:endParaRPr sz="3500" b="0" i="0" u="none" strike="noStrike" cap="non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4/15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914400"/>
            <a:ext cx="62179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731520" y="4956048"/>
            <a:ext cx="7680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alibri"/>
              </a:rPr>
              <a:t>Figura 2. Organigrama de la empresa GPON TELECOM S.A. de C.V.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60498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t>El presente proyecto de residencia comprende el desarrollo de una plataforma web integral para el inventario centralizado y mapeo geoespacial de la red de fibra óptica GPON/FTTx de la empresa GPON TELECOM S.A. de C.V. Su propósito fundamental es modernizar y reemplazar la gestión manual desarticulada en campo, previniendo colisiones en la asignación de puertos y saturación imprevista en cajas NAP. La solución articula una arquitectura desacoplada con visor cartográfico interactivo en React y Leaflet, un backend transaccional robusto en Node.js con Express y una base de datos relacional en PostgreSQL con control de concurrencia ACID, permitiendo al personal técnico y de soporte consultar, administrar y actualizar en tiempo real el estado físico y lógico de toda la infraestructura pasiva.</a:t>
            </a:r>
            <a:endParaRPr sz="24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Introducción</a:t>
            </a:r>
            <a:endParaRPr sz="3500" b="0" i="0" u="none" strike="noStrike" cap="non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5/15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1520" y="960120"/>
            <a:ext cx="7680960" cy="356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defRPr sz="1450" b="0" i="0">
                <a:solidFill>
                  <a:srgbClr val="1F2937"/>
                </a:solidFill>
                <a:latin typeface="Arial"/>
              </a:defRPr>
            </a:pPr>
            <a:r>
              <a:rPr dirty="0" err="1"/>
              <a:t>Actualmente</a:t>
            </a:r>
            <a:r>
              <a:rPr dirty="0"/>
              <a:t>, la </a:t>
            </a:r>
            <a:r>
              <a:rPr dirty="0" err="1"/>
              <a:t>empresa</a:t>
            </a:r>
            <a:r>
              <a:rPr dirty="0"/>
              <a:t> GPON TELECOM S.A. de C.V. </a:t>
            </a:r>
            <a:r>
              <a:rPr dirty="0" err="1"/>
              <a:t>enfrenta</a:t>
            </a:r>
            <a:r>
              <a:rPr dirty="0"/>
              <a:t> </a:t>
            </a:r>
            <a:r>
              <a:rPr dirty="0" err="1"/>
              <a:t>severas</a:t>
            </a:r>
            <a:r>
              <a:rPr dirty="0"/>
              <a:t> </a:t>
            </a:r>
            <a:r>
              <a:rPr dirty="0" err="1"/>
              <a:t>dificultades</a:t>
            </a:r>
            <a:r>
              <a:rPr dirty="0"/>
              <a:t> </a:t>
            </a:r>
            <a:r>
              <a:rPr dirty="0" err="1"/>
              <a:t>operativas</a:t>
            </a:r>
            <a:r>
              <a:rPr dirty="0"/>
              <a:t> </a:t>
            </a:r>
            <a:r>
              <a:rPr dirty="0" err="1"/>
              <a:t>derivadas</a:t>
            </a:r>
            <a:r>
              <a:rPr dirty="0"/>
              <a:t> de la </a:t>
            </a:r>
            <a:r>
              <a:rPr dirty="0" err="1"/>
              <a:t>gestión</a:t>
            </a:r>
            <a:r>
              <a:rPr dirty="0"/>
              <a:t> manual y </a:t>
            </a:r>
            <a:r>
              <a:rPr dirty="0" err="1"/>
              <a:t>desarticulada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inventario</a:t>
            </a:r>
            <a:r>
              <a:rPr dirty="0"/>
              <a:t> de </a:t>
            </a:r>
            <a:r>
              <a:rPr dirty="0" err="1"/>
              <a:t>su</a:t>
            </a:r>
            <a:r>
              <a:rPr dirty="0"/>
              <a:t> red de </a:t>
            </a:r>
            <a:r>
              <a:rPr dirty="0" err="1"/>
              <a:t>fibra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 </a:t>
            </a:r>
            <a:r>
              <a:rPr dirty="0" err="1"/>
              <a:t>pasiva</a:t>
            </a:r>
            <a:r>
              <a:rPr dirty="0"/>
              <a:t>. La </a:t>
            </a:r>
            <a:r>
              <a:rPr dirty="0" err="1"/>
              <a:t>carencia</a:t>
            </a:r>
            <a:r>
              <a:rPr dirty="0"/>
              <a:t> de un </a:t>
            </a:r>
            <a:r>
              <a:rPr dirty="0" err="1"/>
              <a:t>registro</a:t>
            </a:r>
            <a:r>
              <a:rPr dirty="0"/>
              <a:t> digital </a:t>
            </a:r>
            <a:r>
              <a:rPr dirty="0" err="1"/>
              <a:t>centralizado</a:t>
            </a:r>
            <a:r>
              <a:rPr dirty="0"/>
              <a:t> </a:t>
            </a:r>
            <a:r>
              <a:rPr dirty="0" err="1"/>
              <a:t>provoca</a:t>
            </a:r>
            <a:r>
              <a:rPr dirty="0"/>
              <a:t> </a:t>
            </a:r>
            <a:r>
              <a:rPr dirty="0" err="1"/>
              <a:t>frecuentes</a:t>
            </a:r>
            <a:r>
              <a:rPr dirty="0"/>
              <a:t> </a:t>
            </a:r>
            <a:r>
              <a:rPr dirty="0" err="1"/>
              <a:t>colisiones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asignación</a:t>
            </a:r>
            <a:r>
              <a:rPr dirty="0"/>
              <a:t> </a:t>
            </a:r>
            <a:r>
              <a:rPr dirty="0" err="1"/>
              <a:t>concurrente</a:t>
            </a:r>
            <a:r>
              <a:rPr dirty="0"/>
              <a:t> de </a:t>
            </a:r>
            <a:r>
              <a:rPr dirty="0" err="1"/>
              <a:t>puertos</a:t>
            </a:r>
            <a:r>
              <a:rPr dirty="0"/>
              <a:t> entre cuadrillas de campo y personal de NOC, </a:t>
            </a:r>
            <a:r>
              <a:rPr dirty="0" err="1"/>
              <a:t>saturación</a:t>
            </a:r>
            <a:r>
              <a:rPr dirty="0"/>
              <a:t> </a:t>
            </a:r>
            <a:r>
              <a:rPr dirty="0" err="1"/>
              <a:t>inadvertida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cajas</a:t>
            </a:r>
            <a:r>
              <a:rPr dirty="0"/>
              <a:t> </a:t>
            </a:r>
            <a:r>
              <a:rPr dirty="0" err="1"/>
              <a:t>terminales</a:t>
            </a:r>
            <a:r>
              <a:rPr dirty="0"/>
              <a:t> NAP y </a:t>
            </a:r>
            <a:r>
              <a:rPr dirty="0" err="1"/>
              <a:t>demoras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provisión</a:t>
            </a:r>
            <a:r>
              <a:rPr dirty="0"/>
              <a:t> de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suscriptores</a:t>
            </a:r>
            <a:r>
              <a:rPr dirty="0"/>
              <a:t>, </a:t>
            </a:r>
            <a:r>
              <a:rPr dirty="0" err="1"/>
              <a:t>dificultando</a:t>
            </a:r>
            <a:r>
              <a:rPr dirty="0"/>
              <a:t> la </a:t>
            </a:r>
            <a:r>
              <a:rPr dirty="0" err="1"/>
              <a:t>supervisión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y la </a:t>
            </a:r>
            <a:r>
              <a:rPr dirty="0" err="1"/>
              <a:t>toma</a:t>
            </a:r>
            <a:r>
              <a:rPr dirty="0"/>
              <a:t> de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infraestructura</a:t>
            </a:r>
            <a:r>
              <a:rPr dirty="0"/>
              <a:t> de </a:t>
            </a:r>
            <a:r>
              <a:rPr dirty="0" err="1"/>
              <a:t>telecomunicaciones</a:t>
            </a:r>
            <a:r>
              <a:rPr dirty="0"/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50" b="1" i="0">
                <a:solidFill>
                  <a:srgbClr val="111827"/>
                </a:solidFill>
                <a:latin typeface="Arial"/>
              </a:defRPr>
            </a:pPr>
            <a:r>
              <a:rPr dirty="0" err="1"/>
              <a:t>Pregunta</a:t>
            </a:r>
            <a:r>
              <a:rPr dirty="0"/>
              <a:t> de </a:t>
            </a:r>
            <a:r>
              <a:rPr dirty="0" err="1"/>
              <a:t>Investigación</a:t>
            </a:r>
            <a:r>
              <a:rPr dirty="0"/>
              <a:t>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 sz="1450" b="0" i="1">
                <a:solidFill>
                  <a:srgbClr val="1F2937"/>
                </a:solidFill>
                <a:latin typeface="Arial"/>
              </a:defRPr>
            </a:pPr>
            <a:r>
              <a:rPr dirty="0"/>
              <a:t>¿El </a:t>
            </a:r>
            <a:r>
              <a:rPr dirty="0" err="1"/>
              <a:t>desarrollo</a:t>
            </a:r>
            <a:r>
              <a:rPr dirty="0"/>
              <a:t> de un </a:t>
            </a:r>
            <a:r>
              <a:rPr dirty="0" err="1"/>
              <a:t>sistema</a:t>
            </a:r>
            <a:r>
              <a:rPr dirty="0"/>
              <a:t> web integral de </a:t>
            </a:r>
            <a:r>
              <a:rPr dirty="0" err="1"/>
              <a:t>inventario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</a:t>
            </a:r>
            <a:r>
              <a:rPr dirty="0" err="1"/>
              <a:t>lógico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modernizar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y </a:t>
            </a:r>
            <a:r>
              <a:rPr dirty="0" err="1"/>
              <a:t>optimizar</a:t>
            </a:r>
            <a:r>
              <a:rPr dirty="0"/>
              <a:t> la </a:t>
            </a:r>
            <a:r>
              <a:rPr dirty="0" err="1"/>
              <a:t>administración</a:t>
            </a:r>
            <a:r>
              <a:rPr dirty="0"/>
              <a:t> de la red de </a:t>
            </a:r>
            <a:r>
              <a:rPr dirty="0" err="1"/>
              <a:t>fibra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 GPON/FTTx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empresa</a:t>
            </a:r>
            <a:r>
              <a:rPr dirty="0"/>
              <a:t> GPON TELECOM S.A. de C.V.?</a:t>
            </a: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Planteamiento del problema</a:t>
            </a:r>
            <a:endParaRPr sz="3500" b="0" i="0" u="none" strike="noStrike" cap="non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6/15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Justificación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7/15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t>La implementación de este sistema se justifica al transformar integralmente la operatividad y rentabilidad de GPON TELECOM S.A. de C.V., automatizando la asignación y liberación de puertos SC-APC para reducir los tiempos de atención técnica de 45 a tan solo 15 minutos por suscriptor. Asimismo, faculta al centro de operaciones y cuadrillas para disponer de trazabilidad geoespacial en tiempo real con semaforización de saturación, disminuyendo en un 80% los traslados técnicos fallidos por cajas saturadas y protegiendo de forma sustentable la inversión en la infraestructura pasiva de fibra óptica.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111827"/>
                </a:solidFill>
                <a:latin typeface="Arial"/>
              </a:defRPr>
            </a:pPr>
            <a:r>
              <a:rPr sz="1300">
                <a:solidFill>
                  <a:srgbClr val="7A1C35"/>
                </a:solidFill>
                <a:latin typeface="Arial"/>
              </a:rPr>
              <a:t>Objetivo General: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12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Desarrollar una aplicación web para el inventario y mapeo lógico de redes GPON/FTTx, mediante el diseño de vistas tabulares y diagramas lógicos simples, para optimizar el control de la infraestructura por parte del equipo técnico y de soporte.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7A1C35"/>
                </a:solidFill>
                <a:latin typeface="Arial"/>
              </a:rPr>
              <a:t>Objetivos Específicos: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1. Analizar los requerimientos operativos de la red de fibra óptica mediante el levantamiento de información sobre el hardware (NAP/ODF), para diseñar la arquitectura del sistema y el modelo de la base de datos.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2. Construir una interfaz web responsiva a través del uso de tecnologías de desarrollo frontend, para que los técnicos de campo actualicen desde su celular el estado de los puertos (libres, ocupados, dañados).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3. Programar el backend del sistema mediante la creación de una API centralizada, para gestionar la información de los activos y vincular los puertos de red correspondientes a los datos de los clientes.</a:t>
            </a: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Objetivos</a:t>
            </a:r>
            <a:endParaRPr sz="3500" b="0" i="0" u="none" strike="noStrike" cap="non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8/15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Arial"/>
              </a:rPr>
              <a:t>Herramientas</a:t>
            </a: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9/15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Arial"/>
              </a:rPr>
              <a:t>Para el desarrollo de la plataforma web se seleccionó un stack tecnológico desacoplado, moderno y de alto rendimiento:</a:t>
            </a:r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256" y="1637883"/>
            <a:ext cx="5697855" cy="2304288"/>
          </a:xfrm>
          <a:prstGeom prst="rect">
            <a:avLst/>
          </a:prstGeom>
        </p:spPr>
      </p:pic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26" y="1657492"/>
            <a:ext cx="1080000" cy="723600"/>
          </a:xfrm>
          <a:prstGeom prst="rect">
            <a:avLst/>
          </a:prstGeom>
        </p:spPr>
      </p:pic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000" y="2526257"/>
            <a:ext cx="1080000" cy="1080000"/>
          </a:xfrm>
          <a:prstGeom prst="rect">
            <a:avLst/>
          </a:prstGeom>
        </p:spPr>
      </p:pic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26" y="3729897"/>
            <a:ext cx="1080000" cy="645469"/>
          </a:xfrm>
          <a:prstGeom prst="rect">
            <a:avLst/>
          </a:prstGeom>
        </p:spPr>
      </p:pic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9106" y="3032489"/>
            <a:ext cx="1080000" cy="1064180"/>
          </a:xfrm>
          <a:prstGeom prst="rect">
            <a:avLst/>
          </a:prstGeom>
        </p:spPr>
      </p:pic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926" y="2526257"/>
            <a:ext cx="1080000" cy="1038322"/>
          </a:xfrm>
          <a:prstGeom prst="rect">
            <a:avLst/>
          </a:prstGeom>
        </p:spPr>
      </p:pic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2000" y="1579579"/>
            <a:ext cx="1080000" cy="617196"/>
          </a:xfrm>
          <a:prstGeom prst="rect">
            <a:avLst/>
          </a:prstGeom>
        </p:spPr>
      </p:pic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2000" y="3872911"/>
            <a:ext cx="1080000" cy="295082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2000" y="4375366"/>
            <a:ext cx="1080000" cy="1080000"/>
          </a:xfrm>
          <a:prstGeom prst="rect">
            <a:avLst/>
          </a:prstGeom>
        </p:spPr>
      </p:pic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50128" y="1544745"/>
            <a:ext cx="1080000" cy="675000"/>
          </a:xfrm>
          <a:prstGeom prst="rect">
            <a:avLst/>
          </a:prstGeom>
        </p:spPr>
      </p:pic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0128" y="2563830"/>
            <a:ext cx="1080000" cy="1080000"/>
          </a:xfrm>
          <a:prstGeom prst="rect">
            <a:avLst/>
          </a:prstGeom>
        </p:spPr>
      </p:pic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0128" y="3859575"/>
            <a:ext cx="1080000" cy="474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Rectangle 166"/>
          <p:cNvSpPr/>
          <p:nvPr/>
        </p:nvSpPr>
        <p:spPr>
          <a:xfrm>
            <a:off x="5303520" y="9144"/>
            <a:ext cx="3840480" cy="832104"/>
          </a:xfrm>
          <a:prstGeom prst="rect">
            <a:avLst/>
          </a:prstGeom>
          <a:solidFill>
            <a:srgbClr val="7A1C35"/>
          </a:solidFill>
          <a:ln>
            <a:solidFill>
              <a:srgbClr val="7A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Evidencias: Documentación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458200" y="6519672"/>
            <a:ext cx="685800" cy="338328"/>
          </a:xfrm>
          <a:prstGeom prst="rect">
            <a:avLst/>
          </a:prstGeom>
          <a:solidFill>
            <a:srgbClr val="7A1C35"/>
          </a:solidFill>
          <a:ln>
            <a:solidFill>
              <a:srgbClr val="7A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10/15</a:t>
            </a:r>
          </a:p>
        </p:txBody>
      </p:sp>
      <p:pic>
        <p:nvPicPr>
          <p:cNvPr id="169" name="Picture 168" descr="evidencia_documentacion_formal_pd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1005840"/>
            <a:ext cx="7863840" cy="4251960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640080" y="5321808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A1C35"/>
                </a:solidFill>
                <a:latin typeface="Arial"/>
              </a:rPr>
              <a:t>Avance Formal en PDF: Memoria técnica oficial en 5 capítulos, 96 figuras consecutivas y 28 tablas normativas de ingeniería.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Rectangle 189"/>
          <p:cNvSpPr/>
          <p:nvPr/>
        </p:nvSpPr>
        <p:spPr>
          <a:xfrm>
            <a:off x="5486400" y="9144"/>
            <a:ext cx="3657600" cy="832104"/>
          </a:xfrm>
          <a:prstGeom prst="rect">
            <a:avLst/>
          </a:prstGeom>
          <a:solidFill>
            <a:srgbClr val="7A1C35"/>
          </a:solidFill>
          <a:ln>
            <a:solidFill>
              <a:srgbClr val="7A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Evidencias: Software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458200" y="6519672"/>
            <a:ext cx="685800" cy="338328"/>
          </a:xfrm>
          <a:prstGeom prst="rect">
            <a:avLst/>
          </a:prstGeom>
          <a:solidFill>
            <a:srgbClr val="7A1C35"/>
          </a:solidFill>
          <a:ln>
            <a:solidFill>
              <a:srgbClr val="7A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11/15</a:t>
            </a:r>
          </a:p>
        </p:txBody>
      </p:sp>
      <p:pic>
        <p:nvPicPr>
          <p:cNvPr id="192" name="Picture 191" descr="evidencia_proyecto_aplicacion_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05840"/>
            <a:ext cx="7863840" cy="4251960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640080" y="5321808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A1C35"/>
                </a:solidFill>
                <a:latin typeface="Arial"/>
              </a:rPr>
              <a:t>Prototipo y Aplicación Web: Visor GIS Leaflet, matriz 2×8 de puertos NAP (1:16), padrón de abonados y consola de reportes ejecutivos.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Cronograma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12/15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960120"/>
            <a:ext cx="67665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731520" y="4919472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000">
                <a:solidFill>
                  <a:srgbClr val="7A1C35"/>
                </a:solidFill>
                <a:latin typeface="Arial"/>
              </a:rPr>
              <a:t>Figura 4. Cronograma de actividades del proyecto de residencia profesional (Corte: 40% de avance físico y metodológico).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731520" y="1005840"/>
            <a:ext cx="7680960" cy="5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35000"/>
              </a:lnSpc>
              <a:defRPr sz="1500" b="0" i="0">
                <a:solidFill>
                  <a:srgbClr val="1F2937"/>
                </a:solidFill>
                <a:latin typeface="Arial"/>
              </a:defRPr>
            </a:pPr>
            <a:r>
              <a:rPr sz="1250">
                <a:solidFill>
                  <a:srgbClr val="1E293B"/>
                </a:solidFill>
                <a:latin typeface="Arial"/>
              </a:rPr>
              <a:t>Con base en el cronograma de actividades planificado, el proyecto registra actualmente un avance físico y metodológico del 40%, cumpliendo satisfactoriamente en tiempo y forma con las fases de levantamiento de infraestructura, análisis formal de requerimientos, diseño arquitectónico del software y prototipado del visor cartográfico y del backend transaccional. Los resultados preliminares confirman la viabilidad técnica y operativa de la plataforma web, resolviendo la trazabilidad geoespacial de planta externa y sentando las bases sólidas para culminar con éxito la implementación en campo y la validación con las cuadrillas técnicas en las semanas restantes.</a:t>
            </a:r>
            <a:endParaRPr sz="14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2743200" y="0"/>
            <a:ext cx="5486400" cy="64008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3800" b="0" i="0">
                <a:solidFill>
                  <a:srgbClr val="76923C"/>
                </a:solidFill>
                <a:latin typeface="Calibri"/>
              </a:rPr>
              <a:t>Conclusiones Preliminares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13/15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731520" y="105156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t>International Telecommunication Union. (2003). Recomendación ITU-T G.984.1 / G.984.2: Redes ópticas pasivas con capacidad de gigabit (GPON). Ginebra: ITU.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t>Tanenbaum, A. S., &amp; Wetherall, D. J. (2014). Redes de computadoras (5.ª ed.). Ciudad de México: Pearson Educación.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t>Silberschatz, A., Korth, H. F., &amp; Sudarshan, S. (2019). Database System Concepts (7th ed.). Nueva York: McGraw-Hill.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t>World Wide Web Consortium (W3C). (2018). Web Content Accessibility Guidelines (WCAG) 2.1. W3C Recommendation. https://www.w3.org/TR/WCAG21/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</a:pPr>
            <a:r>
              <a:t>PostgreSQL Global Development Group. (2024). PostgreSQL 16.0 Documentation: Explicit Locking and Transaction Isolation. https://www.postgresql.org/docs/16/</a:t>
            </a:r>
          </a:p>
        </p:txBody>
      </p:sp>
      <p:sp>
        <p:nvSpPr>
          <p:cNvPr id="224" name="Google Shape;224;p27"/>
          <p:cNvSpPr/>
          <p:nvPr/>
        </p:nvSpPr>
        <p:spPr>
          <a:xfrm>
            <a:off x="2743200" y="0"/>
            <a:ext cx="5486400" cy="64008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3800" b="0" i="0">
                <a:solidFill>
                  <a:srgbClr val="76923C"/>
                </a:solidFill>
                <a:latin typeface="Calibri"/>
              </a:rPr>
              <a:t>Bibliografía y Referencias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14/15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4" descr="Logo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4" descr="sanj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sz="1400">
                <a:solidFill>
                  <a:srgbClr val="7A1C35"/>
                </a:solidFill>
                <a:latin typeface="Arial"/>
              </a:rPr>
              <a:t>Octubre de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1371600" y="1645920"/>
            <a:ext cx="557784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sz="5600" b="0" i="0">
                <a:solidFill>
                  <a:srgbClr val="76923C"/>
                </a:solidFill>
                <a:latin typeface="Calibri"/>
              </a:rPr>
              <a:t>¡Muchas Gracias!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15/15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14400" y="2834640"/>
            <a:ext cx="6492240" cy="13849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sz="4200" b="0" i="0" dirty="0">
                <a:solidFill>
                  <a:srgbClr val="76923C"/>
                </a:solidFill>
                <a:latin typeface="Calibri"/>
              </a:rPr>
              <a:t>¿</a:t>
            </a:r>
            <a:r>
              <a:rPr sz="4200" b="0" i="0" dirty="0" err="1">
                <a:solidFill>
                  <a:srgbClr val="76923C"/>
                </a:solidFill>
                <a:latin typeface="Calibri"/>
              </a:rPr>
              <a:t>Preguntas</a:t>
            </a:r>
            <a:r>
              <a:rPr sz="4200" b="0" i="0" dirty="0">
                <a:solidFill>
                  <a:srgbClr val="76923C"/>
                </a:solidFill>
                <a:latin typeface="Calibri"/>
              </a:rPr>
              <a:t> o </a:t>
            </a:r>
            <a:r>
              <a:rPr sz="4200" b="0" i="0" dirty="0" err="1">
                <a:solidFill>
                  <a:srgbClr val="76923C"/>
                </a:solidFill>
                <a:latin typeface="Calibri"/>
              </a:rPr>
              <a:t>Comentarios</a:t>
            </a:r>
            <a:r>
              <a:rPr sz="4200" b="0" i="0" dirty="0">
                <a:solidFill>
                  <a:srgbClr val="76923C"/>
                </a:solidFill>
                <a:latin typeface="Calibri"/>
              </a:rPr>
              <a:t>?
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1182</Words>
  <Application>Microsoft Office PowerPoint</Application>
  <PresentationFormat>Presentación en pantalla (4:3)</PresentationFormat>
  <Paragraphs>73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Tahoma</vt:lpstr>
      <vt:lpstr>Calibri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luid</dc:creator>
  <cp:lastModifiedBy>Mauricio Nolazco</cp:lastModifiedBy>
  <cp:revision>5</cp:revision>
  <dcterms:created xsi:type="dcterms:W3CDTF">2002-01-26T11:17:21Z</dcterms:created>
  <dcterms:modified xsi:type="dcterms:W3CDTF">2026-09-25T20:54:10Z</dcterms:modified>
</cp:coreProperties>
</file>