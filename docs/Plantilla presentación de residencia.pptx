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6858000" cx="9144000"/>
  <p:notesSz cx="6858000" cy="9144000"/>
  <p:embeddedFontLst>
    <p:embeddedFont>
      <p:font typeface="Tahoma"/>
      <p:regular r:id="rId21"/>
      <p:bold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http://customooxmlschemas.google.com/">
      <go:slidesCustomData xmlns:go="http://customooxmlschemas.google.com/" r:id="rId23" roundtripDataSignature="AMtx7mi6nF6pup/LqDrkjYTVN8IMSeH6u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font" Target="fonts/Tahoma-regular.fntdata"/><Relationship Id="rId22" Type="http://schemas.openxmlformats.org/officeDocument/2006/relationships/font" Target="fonts/Tahoma-bold.fntdata"/><Relationship Id="rId23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s-E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6" name="Google Shape;96;p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4" name="Google Shape;104;p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4" name="Google Shape;114;p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0" name="Google Shape;140;p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8" name="Google Shape;148;p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6" name="Google Shape;156;p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4" name="Google Shape;164;p1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7" name="Google Shape;187;p1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5" name="Google Shape;195;p1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12" name="Google Shape;212;p1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20" name="Google Shape;220;p2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28" name="Google Shape;228;p1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 blanco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título" type="titl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7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7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objetos" type="obj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8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cabezado de sección" type="secHead">
  <p:cSld name="SECTION_HEAD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9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9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os objetos" type="twoObj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0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0" name="Google Shape;40;p20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1" name="Google Shape;41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ción" type="twoTxTwoObj">
  <p:cSld name="TWO_OBJECTS_WITH_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21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7" name="Google Shape;47;p21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8" name="Google Shape;48;p21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9" name="Google Shape;49;p21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50" name="Google Shape;50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ólo el título" type="title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ido con título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3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3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23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n con título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4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4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4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texto vertical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25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vertical y texto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26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15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1.png"/><Relationship Id="rId4" Type="http://schemas.openxmlformats.org/officeDocument/2006/relationships/image" Target="../media/image1.jpg"/><Relationship Id="rId5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1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Relationship Id="rId4" Type="http://schemas.openxmlformats.org/officeDocument/2006/relationships/image" Target="../media/image15.png"/><Relationship Id="rId5" Type="http://schemas.openxmlformats.org/officeDocument/2006/relationships/image" Target="../media/image4.png"/><Relationship Id="rId6" Type="http://schemas.openxmlformats.org/officeDocument/2006/relationships/image" Target="../media/image19.png"/><Relationship Id="rId7" Type="http://schemas.openxmlformats.org/officeDocument/2006/relationships/image" Target="../media/image16.png"/><Relationship Id="rId8" Type="http://schemas.openxmlformats.org/officeDocument/2006/relationships/image" Target="../media/image8.png"/><Relationship Id="rId9" Type="http://schemas.openxmlformats.org/officeDocument/2006/relationships/image" Target="../media/image12.png"/><Relationship Id="rId10" Type="http://schemas.openxmlformats.org/officeDocument/2006/relationships/image" Target="../media/image11.png"/><Relationship Id="rId11" Type="http://schemas.openxmlformats.org/officeDocument/2006/relationships/image" Target="../media/image17.png"/><Relationship Id="rId12" Type="http://schemas.openxmlformats.org/officeDocument/2006/relationships/image" Target="../media/image10.png"/><Relationship Id="rId13" Type="http://schemas.openxmlformats.org/officeDocument/2006/relationships/image" Target="../media/image9.png"/><Relationship Id="rId14" Type="http://schemas.openxmlformats.org/officeDocument/2006/relationships/image" Target="../media/image6.png"/><Relationship Id="rId15" Type="http://schemas.openxmlformats.org/officeDocument/2006/relationships/image" Target="../media/image13.png"/><Relationship Id="rId16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1.png"/><Relationship Id="rId4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1.png"/><Relationship Id="rId4" Type="http://schemas.openxmlformats.org/officeDocument/2006/relationships/hyperlink" Target="https://sg.com.mx/revista/17/sqlite-la-base-datos-embebida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1.png"/><Relationship Id="rId4" Type="http://schemas.openxmlformats.org/officeDocument/2006/relationships/image" Target="../media/image1.jpg"/><Relationship Id="rId5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Google Shape;88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4286256"/>
            <a:ext cx="9144000" cy="25717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Color" id="89" name="Google Shape;89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472" y="285728"/>
            <a:ext cx="1193801" cy="5683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anjose" id="90" name="Google Shape;90;p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356504" y="214290"/>
            <a:ext cx="1430338" cy="560388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"/>
          <p:cNvSpPr txBox="1"/>
          <p:nvPr/>
        </p:nvSpPr>
        <p:spPr>
          <a:xfrm>
            <a:off x="6300192" y="6100724"/>
            <a:ext cx="2629526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algn="r"/>
            <a:r>
              <a:rPr sz="1800" b="0" i="0">
                <a:solidFill>
                  <a:srgbClr val="505050"/>
                </a:solidFill>
                <a:latin typeface="Calibri"/>
              </a:rPr>
              <a:t>Septiembre de 2026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323528" y="1576409"/>
            <a:ext cx="8606189" cy="43704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algn="ctr"/>
            <a:r>
              <a:rPr sz="1700" b="0" i="0">
                <a:solidFill>
                  <a:srgbClr val="505050"/>
                </a:solidFill>
                <a:latin typeface="Arial"/>
              </a:rPr>
              <a:t>Carrera: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spcAft>
                <a:spcPts val="800"/>
              </a:spcAft>
            </a:pPr>
            <a:r>
              <a:rPr sz="1900" b="1" i="0">
                <a:solidFill>
                  <a:srgbClr val="000000"/>
                </a:solidFill>
                <a:latin typeface="Arial"/>
              </a:rPr>
              <a:t>Ingeniería en Sistemas Computacionales</a:t>
            </a:r>
          </a:p>
          <a:p>
            <a:pPr algn="ctr">
              <a:spcAft>
                <a:spcPts val="1200"/>
              </a:spcAft>
            </a:pPr>
            <a:r>
              <a:rPr sz="2100" b="1" i="0">
                <a:solidFill>
                  <a:srgbClr val="76923C"/>
                </a:solidFill>
                <a:latin typeface="Arial"/>
              </a:rPr>
              <a:t>“Sistema de Inventario y Mapeo Lógico de Redes GPON / FTTx”</a:t>
            </a:r>
          </a:p>
          <a:p>
            <a:pPr algn="ctr"/>
            <a:r>
              <a:rPr sz="1700" b="0" i="0">
                <a:solidFill>
                  <a:srgbClr val="505050"/>
                </a:solidFill>
                <a:latin typeface="Arial"/>
              </a:rPr>
              <a:t>Presenta:</a:t>
            </a:r>
          </a:p>
          <a:p>
            <a:pPr algn="ctr">
              <a:spcAft>
                <a:spcPts val="800"/>
              </a:spcAft>
            </a:pPr>
            <a:r>
              <a:rPr sz="1900" b="1" i="0">
                <a:solidFill>
                  <a:srgbClr val="000000"/>
                </a:solidFill>
                <a:latin typeface="Arial"/>
              </a:rPr>
              <a:t>Mauricio Nolazco Lonjino</a:t>
            </a:r>
          </a:p>
          <a:p>
            <a:pPr algn="ctr"/>
            <a:r>
              <a:rPr sz="1700" b="0" i="0">
                <a:solidFill>
                  <a:srgbClr val="505050"/>
                </a:solidFill>
                <a:latin typeface="Arial"/>
              </a:rPr>
              <a:t>Asesor Interno:</a:t>
            </a:r>
          </a:p>
          <a:p>
            <a:pPr algn="ctr"/>
            <a:r>
              <a:rPr sz="1900" b="1" i="0">
                <a:solidFill>
                  <a:srgbClr val="000000"/>
                </a:solidFill>
                <a:latin typeface="Arial"/>
              </a:rPr>
              <a:t>I.S.C. Leonardo Becerril Sánchez</a:t>
            </a:r>
          </a:p>
        </p:txBody>
      </p:sp>
      <p:sp>
        <p:nvSpPr>
          <p:cNvPr id="93" name="Google Shape;93;p1"/>
          <p:cNvSpPr txBox="1"/>
          <p:nvPr/>
        </p:nvSpPr>
        <p:spPr>
          <a:xfrm>
            <a:off x="1043608" y="764704"/>
            <a:ext cx="6714569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algn="ctr"/>
            <a:r>
              <a:rPr sz="2400" b="1" i="0">
                <a:solidFill>
                  <a:srgbClr val="000000"/>
                </a:solidFill>
                <a:latin typeface="Calibri"/>
              </a:rPr>
              <a:t>UNIVERSIDAD MEXIQUENSE DEL BICENTENARIO
</a:t>
            </a:r>
            <a:r>
              <a:rPr sz="2000" b="1" i="0">
                <a:solidFill>
                  <a:srgbClr val="000000"/>
                </a:solidFill>
                <a:latin typeface="Calibri"/>
              </a:rPr>
              <a:t>UNIDAD DE ESTUDIOS SUPERIORES SAN JOSÉ DEL RINCÓN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4286256"/>
            <a:ext cx="9144000" cy="2571744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2"/>
          <p:cNvSpPr/>
          <p:nvPr/>
        </p:nvSpPr>
        <p:spPr>
          <a:xfrm>
            <a:off x="6918564" y="13648"/>
            <a:ext cx="2218684" cy="830997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rgbClr val="7692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algn="r"/>
            <a:r>
              <a:rPr sz="4400" b="0" i="0">
                <a:solidFill>
                  <a:srgbClr val="76923C"/>
                </a:solidFill>
                <a:latin typeface="Calibri"/>
              </a:rPr>
              <a:t>Agenda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2"/>
          <p:cNvSpPr/>
          <p:nvPr/>
        </p:nvSpPr>
        <p:spPr>
          <a:xfrm>
            <a:off x="914400" y="1005840"/>
            <a:ext cx="7498079" cy="3931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>
              <a:spcAft>
                <a:spcPts val="500"/>
              </a:spcAft>
            </a:pPr>
            <a:r>
              <a:rPr sz="1600" b="1" i="0">
                <a:solidFill>
                  <a:srgbClr val="000000"/>
                </a:solidFill>
                <a:latin typeface="Arial"/>
              </a:rPr>
              <a:t>1. Empresa (Ubicación Geográfica y Organigrama)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spcAft>
                <a:spcPts val="500"/>
              </a:spcAft>
            </a:pPr>
            <a:r>
              <a:rPr sz="1600" b="1" i="0">
                <a:solidFill>
                  <a:srgbClr val="000000"/>
                </a:solidFill>
                <a:latin typeface="Arial"/>
              </a:rPr>
              <a:t>2. Introducción al Proyecto</a:t>
            </a:r>
          </a:p>
          <a:p>
            <a:pPr>
              <a:spcAft>
                <a:spcPts val="500"/>
              </a:spcAft>
            </a:pPr>
            <a:r>
              <a:rPr sz="1600" b="1" i="0">
                <a:solidFill>
                  <a:srgbClr val="000000"/>
                </a:solidFill>
                <a:latin typeface="Arial"/>
              </a:rPr>
              <a:t>3. Planteamiento del Problema y Pregunta Generadora</a:t>
            </a:r>
          </a:p>
          <a:p>
            <a:pPr>
              <a:spcAft>
                <a:spcPts val="500"/>
              </a:spcAft>
            </a:pPr>
            <a:r>
              <a:rPr sz="1600" b="1" i="0">
                <a:solidFill>
                  <a:srgbClr val="000000"/>
                </a:solidFill>
                <a:latin typeface="Arial"/>
              </a:rPr>
              <a:t>4. Justificación Técnica y Operativa</a:t>
            </a:r>
          </a:p>
          <a:p>
            <a:pPr>
              <a:spcAft>
                <a:spcPts val="500"/>
              </a:spcAft>
            </a:pPr>
            <a:r>
              <a:rPr sz="1600" b="1" i="0">
                <a:solidFill>
                  <a:srgbClr val="000000"/>
                </a:solidFill>
                <a:latin typeface="Arial"/>
              </a:rPr>
              <a:t>5. Objetivos del Proyecto (General y Específicos)</a:t>
            </a:r>
          </a:p>
          <a:p>
            <a:pPr>
              <a:spcAft>
                <a:spcPts val="500"/>
              </a:spcAft>
            </a:pPr>
            <a:r>
              <a:rPr sz="1600" b="1" i="0">
                <a:solidFill>
                  <a:srgbClr val="000000"/>
                </a:solidFill>
                <a:latin typeface="Arial"/>
              </a:rPr>
              <a:t>6. Herramientas Tecnológicas (Stack de Software)</a:t>
            </a:r>
          </a:p>
          <a:p>
            <a:pPr>
              <a:spcAft>
                <a:spcPts val="500"/>
              </a:spcAft>
            </a:pPr>
            <a:r>
              <a:rPr sz="1600" b="1" i="0">
                <a:solidFill>
                  <a:srgbClr val="000000"/>
                </a:solidFill>
                <a:latin typeface="Arial"/>
              </a:rPr>
              <a:t>7. Evidencias de Avance Técnico</a:t>
            </a:r>
          </a:p>
          <a:p>
            <a:pPr>
              <a:spcAft>
                <a:spcPts val="500"/>
              </a:spcAft>
            </a:pPr>
            <a:r>
              <a:rPr sz="1600" b="1" i="0">
                <a:solidFill>
                  <a:srgbClr val="000000"/>
                </a:solidFill>
                <a:latin typeface="Arial"/>
              </a:rPr>
              <a:t>8. Cronograma de Actividades</a:t>
            </a:r>
          </a:p>
          <a:p>
            <a:pPr>
              <a:spcAft>
                <a:spcPts val="500"/>
              </a:spcAft>
            </a:pPr>
            <a:r>
              <a:rPr sz="1600" b="1" i="0">
                <a:solidFill>
                  <a:srgbClr val="000000"/>
                </a:solidFill>
                <a:latin typeface="Arial"/>
              </a:rPr>
              <a:t>9. Conclusiones Preliminares (Avance)</a:t>
            </a:r>
          </a:p>
          <a:p>
            <a:pPr>
              <a:spcAft>
                <a:spcPts val="500"/>
              </a:spcAft>
            </a:pPr>
            <a:r>
              <a:rPr sz="1600" b="1" i="0">
                <a:solidFill>
                  <a:srgbClr val="000000"/>
                </a:solidFill>
                <a:latin typeface="Arial"/>
              </a:rPr>
              <a:t>10. Bibliografía y Referencias</a:t>
            </a:r>
          </a:p>
        </p:txBody>
      </p:sp>
      <p:sp>
        <p:nvSpPr>
          <p:cNvPr id="101" name="Google Shape;101;p2"/>
          <p:cNvSpPr/>
          <p:nvPr/>
        </p:nvSpPr>
        <p:spPr>
          <a:xfrm>
            <a:off x="8461665" y="6519446"/>
            <a:ext cx="682335" cy="338554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rgbClr val="7692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r>
              <a:rPr sz="1600" b="0" i="0">
                <a:solidFill>
                  <a:srgbClr val="76923C"/>
                </a:solidFill>
                <a:latin typeface="Calibri"/>
              </a:rPr>
              <a:t>2/15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"/>
          <p:cNvSpPr txBox="1"/>
          <p:nvPr>
            <p:ph idx="1" type="body"/>
          </p:nvPr>
        </p:nvSpPr>
        <p:spPr>
          <a:xfrm>
            <a:off x="731520" y="1005840"/>
            <a:ext cx="768096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>
              <a:spcAft>
                <a:spcPts val="400"/>
              </a:spcAft>
            </a:pPr>
            <a:r>
              <a:rPr sz="1500" b="1" i="0">
                <a:solidFill>
                  <a:srgbClr val="000000"/>
                </a:solidFill>
                <a:latin typeface="Arial"/>
              </a:rPr>
              <a:t>• GPON TELECOM S.A. de C.V.: </a:t>
            </a:r>
            <a:r>
              <a:rPr sz="1500" b="0" i="0">
                <a:solidFill>
                  <a:srgbClr val="000000"/>
                </a:solidFill>
                <a:latin typeface="Arial"/>
              </a:rPr>
              <a:t>Empresa proveedora de servicios de telecomunicaciones e Internet de alta velocidad mediante fibra óptica (ISP regional).
</a:t>
            </a:r>
            <a:r>
              <a:rPr sz="1500" b="1" i="0">
                <a:solidFill>
                  <a:srgbClr val="000000"/>
                </a:solidFill>
                <a:latin typeface="Arial"/>
              </a:rPr>
              <a:t>• Ubicación Geográfica: </a:t>
            </a:r>
            <a:r>
              <a:rPr sz="1500" b="0" i="0">
                <a:solidFill>
                  <a:srgbClr val="000000"/>
                </a:solidFill>
                <a:latin typeface="Arial"/>
              </a:rPr>
              <a:t>Sede operativa y nodo central (NOC) en San José del Rincón, Estado de México, abasteciendo conectividad GPON/FTTx urbana y rural.</a:t>
            </a:r>
            <a:endParaRPr/>
          </a:p>
        </p:txBody>
      </p:sp>
      <p:pic>
        <p:nvPicPr>
          <p:cNvPr id="107" name="Google Shape;107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4286256"/>
            <a:ext cx="9144000" cy="2571744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3"/>
          <p:cNvSpPr/>
          <p:nvPr/>
        </p:nvSpPr>
        <p:spPr>
          <a:xfrm>
            <a:off x="5922512" y="25758"/>
            <a:ext cx="2965364" cy="830997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rgbClr val="7692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algn="r"/>
            <a:r>
              <a:rPr sz="4400" b="0" i="0">
                <a:solidFill>
                  <a:srgbClr val="76923C"/>
                </a:solidFill>
                <a:latin typeface="Calibri"/>
              </a:rPr>
              <a:t>Empresa</a:t>
            </a:r>
            <a:endParaRPr b="0" i="0" sz="3500" u="none" cap="none" strike="noStrike">
              <a:solidFill>
                <a:srgbClr val="76923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3"/>
          <p:cNvSpPr/>
          <p:nvPr/>
        </p:nvSpPr>
        <p:spPr>
          <a:xfrm>
            <a:off x="8461665" y="6519446"/>
            <a:ext cx="682335" cy="338554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rgbClr val="7692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r>
              <a:rPr sz="1600" b="0" i="0">
                <a:solidFill>
                  <a:srgbClr val="76923C"/>
                </a:solidFill>
                <a:latin typeface="Calibri"/>
              </a:rPr>
              <a:t>3/15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0" name="Google Shape;110;p3"/>
          <p:cNvPicPr preferRelativeResize="0"/>
          <p:nvPr/>
        </p:nvPicPr>
        <p:blipFill rotWithShape="1">
          <a:blip r:embed="rId4">
            <a:alphaModFix/>
          </a:blip>
          <a:srcRect b="0" l="0" r="2446" t="16890"/>
          <a:stretch/>
        </p:blipFill>
        <p:spPr>
          <a:xfrm>
            <a:off x="1645920" y="2560320"/>
            <a:ext cx="5029200" cy="224028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11" name="Google Shape;111;p3"/>
          <p:cNvSpPr txBox="1"/>
          <p:nvPr/>
        </p:nvSpPr>
        <p:spPr>
          <a:xfrm>
            <a:off x="731520" y="4892040"/>
            <a:ext cx="768096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algn="ctr"/>
            <a:r>
              <a:rPr sz="1400" b="0" i="0">
                <a:solidFill>
                  <a:srgbClr val="505050"/>
                </a:solidFill>
                <a:latin typeface="Calibri"/>
              </a:rPr>
              <a:t>Figura 1. Localización geográfica de la empresa GPON TELECOM S.A. de C.V.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4286256"/>
            <a:ext cx="9144000" cy="2571744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4"/>
          <p:cNvSpPr/>
          <p:nvPr/>
        </p:nvSpPr>
        <p:spPr>
          <a:xfrm>
            <a:off x="5922509" y="25758"/>
            <a:ext cx="2965364" cy="830997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rgbClr val="7692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algn="r"/>
            <a:r>
              <a:rPr sz="4400" b="0" i="0">
                <a:solidFill>
                  <a:srgbClr val="76923C"/>
                </a:solidFill>
                <a:latin typeface="Calibri"/>
              </a:rPr>
              <a:t>Empresa</a:t>
            </a:r>
            <a:endParaRPr b="0" i="0" sz="3500" u="none" cap="none" strike="noStrike">
              <a:solidFill>
                <a:srgbClr val="76923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4"/>
          <p:cNvSpPr/>
          <p:nvPr/>
        </p:nvSpPr>
        <p:spPr>
          <a:xfrm>
            <a:off x="8461665" y="6519446"/>
            <a:ext cx="682335" cy="338554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rgbClr val="7692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r>
              <a:rPr sz="1600" b="0" i="0">
                <a:solidFill>
                  <a:srgbClr val="76923C"/>
                </a:solidFill>
                <a:latin typeface="Calibri"/>
              </a:rPr>
              <a:t>4/15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9" name="Google Shape;119;p4"/>
          <p:cNvPicPr preferRelativeResize="0"/>
          <p:nvPr>
            <p:ph idx="1" type="body"/>
          </p:nvPr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97280" y="914400"/>
            <a:ext cx="6217920" cy="393192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4"/>
          <p:cNvSpPr txBox="1"/>
          <p:nvPr/>
        </p:nvSpPr>
        <p:spPr>
          <a:xfrm>
            <a:off x="731520" y="4956048"/>
            <a:ext cx="768096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algn="ctr"/>
            <a:r>
              <a:rPr sz="1400" b="0" i="0">
                <a:solidFill>
                  <a:srgbClr val="505050"/>
                </a:solidFill>
                <a:latin typeface="Calibri"/>
              </a:rPr>
              <a:t>Figura 2. Organigrama de la empresa GPON TELECOM S.A. de C.V.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4286256"/>
            <a:ext cx="9144000" cy="2571744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5"/>
          <p:cNvSpPr/>
          <p:nvPr/>
        </p:nvSpPr>
        <p:spPr>
          <a:xfrm>
            <a:off x="731520" y="1005840"/>
            <a:ext cx="7680960" cy="3474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Arial"/>
              </a:rPr>
              <a:t>• Propósito General: </a:t>
            </a:r>
            <a:r>
              <a:rPr sz="1500" b="0" i="0">
                <a:solidFill>
                  <a:srgbClr val="000000"/>
                </a:solidFill>
                <a:latin typeface="Arial"/>
              </a:rPr>
              <a:t>Desarrollo de una plataforma web para el inventario centralizado y mapeo lógico de la red de fibra óptica GPON/FTTx en GPON TELECOM S.A. de C.V.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Arial"/>
              </a:rPr>
              <a:t>• Problemática Atendida: </a:t>
            </a:r>
            <a:r>
              <a:rPr sz="1500" b="0" i="0">
                <a:solidFill>
                  <a:srgbClr val="000000"/>
                </a:solidFill>
                <a:latin typeface="Arial"/>
              </a:rPr>
              <a:t>Reemplazar la gestión manual y desarticulada en campo, previniendo la colisión de puertos y la saturación imprevista en cajas NAP.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Arial"/>
              </a:rPr>
              <a:t>• Arquitectura Desacoplada: </a:t>
            </a:r>
            <a:r>
              <a:rPr sz="1500" b="0" i="0">
                <a:solidFill>
                  <a:srgbClr val="000000"/>
                </a:solidFill>
                <a:latin typeface="Arial"/>
              </a:rPr>
              <a:t>Integración de visor cartográfico geoespacial (React 18 + Leaflet), backend seguro (Node.js + Express) y base de datos relacional (PostgreSQL 16).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Arial"/>
              </a:rPr>
              <a:t>• Resiliencia Operativa: </a:t>
            </a:r>
            <a:r>
              <a:rPr sz="1500" b="0" i="0">
                <a:solidFill>
                  <a:srgbClr val="000000"/>
                </a:solidFill>
                <a:latin typeface="Arial"/>
              </a:rPr>
              <a:t>Modelo Offline-First (IndexedDB con Dexie.js) que faculta a los técnicos para continuar registrando operaciones en zonas sin cobertura móvil.</a:t>
            </a:r>
          </a:p>
        </p:txBody>
      </p:sp>
      <p:sp>
        <p:nvSpPr>
          <p:cNvPr id="128" name="Google Shape;128;p5"/>
          <p:cNvSpPr/>
          <p:nvPr/>
        </p:nvSpPr>
        <p:spPr>
          <a:xfrm>
            <a:off x="5666381" y="25758"/>
            <a:ext cx="3477619" cy="830997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rgbClr val="7692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algn="r"/>
            <a:r>
              <a:rPr sz="4400" b="0" i="0">
                <a:solidFill>
                  <a:srgbClr val="76923C"/>
                </a:solidFill>
                <a:latin typeface="Calibri"/>
              </a:rPr>
              <a:t>Introducción</a:t>
            </a:r>
            <a:endParaRPr b="0" i="0" sz="3500" u="none" cap="none" strike="noStrike">
              <a:solidFill>
                <a:srgbClr val="76923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5"/>
          <p:cNvSpPr/>
          <p:nvPr/>
        </p:nvSpPr>
        <p:spPr>
          <a:xfrm>
            <a:off x="8461665" y="6519446"/>
            <a:ext cx="682335" cy="338554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rgbClr val="7692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r>
              <a:rPr sz="1600" b="0" i="0">
                <a:solidFill>
                  <a:srgbClr val="76923C"/>
                </a:solidFill>
                <a:latin typeface="Calibri"/>
              </a:rPr>
              <a:t>5/15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" name="Google Shape;134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4286256"/>
            <a:ext cx="9144000" cy="257174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6"/>
          <p:cNvSpPr/>
          <p:nvPr/>
        </p:nvSpPr>
        <p:spPr>
          <a:xfrm>
            <a:off x="731520" y="960120"/>
            <a:ext cx="7680960" cy="3566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>
              <a:spcAft>
                <a:spcPts val="400"/>
              </a:spcAft>
            </a:pPr>
            <a:r>
              <a:rPr sz="1450" b="1" i="0">
                <a:solidFill>
                  <a:srgbClr val="000000"/>
                </a:solidFill>
                <a:latin typeface="Arial"/>
              </a:rPr>
              <a:t>• Carencia de Inventario Centralizado: </a:t>
            </a:r>
            <a:r>
              <a:rPr sz="1450" b="0" i="0">
                <a:solidFill>
                  <a:srgbClr val="000000"/>
                </a:solidFill>
                <a:latin typeface="Arial"/>
              </a:rPr>
              <a:t>Falta de control físico y lógico de splitters, cajas NAP y puertos SC-APC, provocando retrasos en la atención de nuevas altas.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spcAft>
                <a:spcPts val="400"/>
              </a:spcAft>
            </a:pPr>
            <a:r>
              <a:rPr sz="1450" b="1" i="0">
                <a:solidFill>
                  <a:srgbClr val="000000"/>
                </a:solidFill>
                <a:latin typeface="Arial"/>
              </a:rPr>
              <a:t>• Colisión por Asignación Concurrente: </a:t>
            </a:r>
            <a:r>
              <a:rPr sz="1450" b="0" i="0">
                <a:solidFill>
                  <a:srgbClr val="000000"/>
                </a:solidFill>
                <a:latin typeface="Arial"/>
              </a:rPr>
              <a:t>La asignación simultánea y manual de puertos por diferentes técnicos genera conflictos de servicio y saturación invisible para el NOC.</a:t>
            </a:r>
          </a:p>
          <a:p>
            <a:pPr>
              <a:spcAft>
                <a:spcPts val="400"/>
              </a:spcAft>
            </a:pPr>
            <a:r>
              <a:rPr sz="1450" b="1" i="0">
                <a:solidFill>
                  <a:srgbClr val="000000"/>
                </a:solidFill>
                <a:latin typeface="Arial"/>
              </a:rPr>
              <a:t>• Aislamiento en Campo: </a:t>
            </a:r>
            <a:r>
              <a:rPr sz="1450" b="0" i="0">
                <a:solidFill>
                  <a:srgbClr val="000000"/>
                </a:solidFill>
                <a:latin typeface="Arial"/>
              </a:rPr>
              <a:t>Pérdida de conectividad celular en cuadrillas rurales, imposibilitando la consulta o actualización de la red en tiempo real.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 b="1" i="0">
                <a:solidFill>
                  <a:srgbClr val="76923C"/>
                </a:solidFill>
                <a:latin typeface="Arial"/>
              </a:rPr>
              <a:t>Pregunta Generadora:
</a:t>
            </a:r>
            <a:r>
              <a:rPr sz="1450" b="1" i="1">
                <a:solidFill>
                  <a:srgbClr val="000000"/>
                </a:solidFill>
                <a:latin typeface="Arial"/>
              </a:rPr>
              <a:t>“¿Es viable optimizar la gestión de inventario y la trazabilidad técnica de la red GPON/FTTx mediante una plataforma web georreferenciada con arquitectura Offline-First?”
</a:t>
            </a:r>
            <a:r>
              <a:rPr sz="1700" b="1" i="0">
                <a:solidFill>
                  <a:srgbClr val="76923C"/>
                </a:solidFill>
                <a:latin typeface="Arial"/>
              </a:rPr>
              <a:t>Respuesta: Sí.</a:t>
            </a:r>
          </a:p>
        </p:txBody>
      </p:sp>
      <p:sp>
        <p:nvSpPr>
          <p:cNvPr id="136" name="Google Shape;136;p6"/>
          <p:cNvSpPr/>
          <p:nvPr/>
        </p:nvSpPr>
        <p:spPr>
          <a:xfrm>
            <a:off x="1966436" y="0"/>
            <a:ext cx="7162218" cy="830997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rgbClr val="7692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algn="r"/>
            <a:r>
              <a:rPr sz="4400" b="0" i="0">
                <a:solidFill>
                  <a:srgbClr val="76923C"/>
                </a:solidFill>
                <a:latin typeface="Calibri"/>
              </a:rPr>
              <a:t>Planteamiento del problema</a:t>
            </a:r>
            <a:endParaRPr b="0" i="0" sz="3500" u="none" cap="none" strike="noStrike">
              <a:solidFill>
                <a:srgbClr val="76923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6"/>
          <p:cNvSpPr/>
          <p:nvPr/>
        </p:nvSpPr>
        <p:spPr>
          <a:xfrm>
            <a:off x="8461665" y="6519446"/>
            <a:ext cx="682335" cy="338554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rgbClr val="7692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r>
              <a:rPr sz="1600" b="0" i="0">
                <a:solidFill>
                  <a:srgbClr val="76923C"/>
                </a:solidFill>
                <a:latin typeface="Calibri"/>
              </a:rPr>
              <a:t>6/15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4286256"/>
            <a:ext cx="9144000" cy="2571744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7"/>
          <p:cNvSpPr/>
          <p:nvPr/>
        </p:nvSpPr>
        <p:spPr>
          <a:xfrm>
            <a:off x="5909948" y="0"/>
            <a:ext cx="3213508" cy="830997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rgbClr val="7692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algn="r"/>
            <a:r>
              <a:rPr sz="4400" b="0" i="0">
                <a:solidFill>
                  <a:srgbClr val="76923C"/>
                </a:solidFill>
                <a:latin typeface="Calibri"/>
              </a:rPr>
              <a:t>Justificación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7"/>
          <p:cNvSpPr/>
          <p:nvPr/>
        </p:nvSpPr>
        <p:spPr>
          <a:xfrm>
            <a:off x="8461665" y="6519446"/>
            <a:ext cx="682335" cy="338554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rgbClr val="7692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r>
              <a:rPr sz="1600" b="0" i="0">
                <a:solidFill>
                  <a:srgbClr val="76923C"/>
                </a:solidFill>
                <a:latin typeface="Calibri"/>
              </a:rPr>
              <a:t>7/15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7"/>
          <p:cNvSpPr/>
          <p:nvPr/>
        </p:nvSpPr>
        <p:spPr>
          <a:xfrm>
            <a:off x="731520" y="1005840"/>
            <a:ext cx="7680960" cy="3474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Arial"/>
              </a:rPr>
              <a:t>• Eficiencia Operativa: </a:t>
            </a:r>
            <a:r>
              <a:rPr sz="1500" b="0" i="0">
                <a:solidFill>
                  <a:srgbClr val="000000"/>
                </a:solidFill>
                <a:latin typeface="Arial"/>
              </a:rPr>
              <a:t>Automatiza la asignación y liberación de puertos SC-APC, reduciendo el tiempo de atención técnica de 45 a 15 minutos por suscriptor.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Arial"/>
              </a:rPr>
              <a:t>• Trazabilidad Geoespacial: </a:t>
            </a:r>
            <a:r>
              <a:rPr sz="1500" b="0" i="0">
                <a:solidFill>
                  <a:srgbClr val="000000"/>
                </a:solidFill>
                <a:latin typeface="Arial"/>
              </a:rPr>
              <a:t>Faculta al personal de soporte y NOC para visualizar la red mediante cartografía satelital y semáforos de saturación en tiempo real.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Arial"/>
              </a:rPr>
              <a:t>• Resiliencia en Terreno: </a:t>
            </a:r>
            <a:r>
              <a:rPr sz="1500" b="0" i="0">
                <a:solidFill>
                  <a:srgbClr val="000000"/>
                </a:solidFill>
                <a:latin typeface="Arial"/>
              </a:rPr>
              <a:t>El esquema Offline-First con IndexedDB garantiza continuidad operativa en zonas sin cobertura, sincronizando datos al reconectar.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Arial"/>
              </a:rPr>
              <a:t>• Reducción de Costos: </a:t>
            </a:r>
            <a:r>
              <a:rPr sz="1500" b="0" i="0">
                <a:solidFill>
                  <a:srgbClr val="000000"/>
                </a:solidFill>
                <a:latin typeface="Arial"/>
              </a:rPr>
              <a:t>Disminuye en un 80% los traslados técnicos fallidos por saturación de cajas NAP y protege la inversión en infraestructura pasiva.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4286256"/>
            <a:ext cx="9144000" cy="2571744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8"/>
          <p:cNvSpPr/>
          <p:nvPr/>
        </p:nvSpPr>
        <p:spPr>
          <a:xfrm>
            <a:off x="731520" y="1005840"/>
            <a:ext cx="7680960" cy="3474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>
              <a:spcAft>
                <a:spcPts val="600"/>
              </a:spcAft>
            </a:pPr>
            <a:r>
              <a:rPr sz="2000" b="1" i="0">
                <a:solidFill>
                  <a:srgbClr val="76923C"/>
                </a:solidFill>
                <a:latin typeface="Arial"/>
              </a:rPr>
              <a:t>Objetivo General: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spcAft>
                <a:spcPts val="1000"/>
              </a:spcAft>
            </a:pPr>
            <a:r>
              <a:rPr sz="1550" b="0" i="0">
                <a:solidFill>
                  <a:srgbClr val="000000"/>
                </a:solidFill>
                <a:latin typeface="Arial"/>
              </a:rPr>
              <a:t>Desarrollar e implementar un sistema web para el inventario y mapeo lógico de la infraestructura de red GPON/FTTx de la empresa GPON TELECOM S.A. de C.V., mediante arquitectura cliente-servidor, bases de datos relacionales y visualización geoespacial, optimizando la asignación de puertos y la trazabilidad técnica en campo.</a:t>
            </a:r>
          </a:p>
          <a:p>
            <a:pPr>
              <a:spcAft>
                <a:spcPts val="400"/>
              </a:spcAft>
            </a:pPr>
            <a:r>
              <a:rPr sz="1450" b="1" i="0">
                <a:solidFill>
                  <a:srgbClr val="000000"/>
                </a:solidFill>
                <a:latin typeface="Arial"/>
              </a:rPr>
              <a:t>• Alcance de Dominio: </a:t>
            </a:r>
            <a:r>
              <a:rPr sz="1450" b="0" i="0">
                <a:solidFill>
                  <a:srgbClr val="000000"/>
                </a:solidFill>
                <a:latin typeface="Arial"/>
              </a:rPr>
              <a:t>Control pasivo integral desde el ODF central hasta cajas NAP terminales de 16 puertos.</a:t>
            </a:r>
          </a:p>
          <a:p>
            <a:pPr>
              <a:spcAft>
                <a:spcPts val="400"/>
              </a:spcAft>
            </a:pPr>
            <a:r>
              <a:rPr sz="1450" b="1" i="0">
                <a:solidFill>
                  <a:srgbClr val="000000"/>
                </a:solidFill>
                <a:latin typeface="Arial"/>
              </a:rPr>
              <a:t>• Concurrencia Robusta: </a:t>
            </a:r>
            <a:r>
              <a:rPr sz="1450" b="0" i="0">
                <a:solidFill>
                  <a:srgbClr val="000000"/>
                </a:solidFill>
                <a:latin typeface="Arial"/>
              </a:rPr>
              <a:t>Bloqueo pesimista de registros para garantizar consistencia transaccional ACID.</a:t>
            </a:r>
          </a:p>
          <a:p>
            <a:pPr>
              <a:spcAft>
                <a:spcPts val="400"/>
              </a:spcAft>
            </a:pPr>
            <a:r>
              <a:rPr sz="1450" b="1" i="0">
                <a:solidFill>
                  <a:srgbClr val="000000"/>
                </a:solidFill>
                <a:latin typeface="Arial"/>
              </a:rPr>
              <a:t>• Disponibilidad Móvil: </a:t>
            </a:r>
            <a:r>
              <a:rPr sz="1450" b="0" i="0">
                <a:solidFill>
                  <a:srgbClr val="000000"/>
                </a:solidFill>
                <a:latin typeface="Arial"/>
              </a:rPr>
              <a:t>Sincronización diferida y operación continua en cuadrillas técnicas de campo.</a:t>
            </a:r>
          </a:p>
        </p:txBody>
      </p:sp>
      <p:sp>
        <p:nvSpPr>
          <p:cNvPr id="152" name="Google Shape;152;p8"/>
          <p:cNvSpPr/>
          <p:nvPr/>
        </p:nvSpPr>
        <p:spPr>
          <a:xfrm>
            <a:off x="6592725" y="13603"/>
            <a:ext cx="2551275" cy="830997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rgbClr val="7692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algn="r"/>
            <a:r>
              <a:rPr sz="4400" b="0" i="0">
                <a:solidFill>
                  <a:srgbClr val="76923C"/>
                </a:solidFill>
                <a:latin typeface="Calibri"/>
              </a:rPr>
              <a:t>Objetivos</a:t>
            </a:r>
            <a:endParaRPr b="0" i="0" sz="3500" u="none" cap="none" strike="noStrike">
              <a:solidFill>
                <a:srgbClr val="76923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8"/>
          <p:cNvSpPr/>
          <p:nvPr/>
        </p:nvSpPr>
        <p:spPr>
          <a:xfrm>
            <a:off x="8461665" y="6519446"/>
            <a:ext cx="682335" cy="338554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rgbClr val="7692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r>
              <a:rPr sz="1600" b="0" i="0">
                <a:solidFill>
                  <a:srgbClr val="76923C"/>
                </a:solidFill>
                <a:latin typeface="Calibri"/>
              </a:rPr>
              <a:t>8/15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4286256"/>
            <a:ext cx="9144000" cy="2571744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9"/>
          <p:cNvSpPr/>
          <p:nvPr/>
        </p:nvSpPr>
        <p:spPr>
          <a:xfrm>
            <a:off x="731520" y="960120"/>
            <a:ext cx="7680960" cy="3566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76923C"/>
                </a:solidFill>
                <a:latin typeface="Arial"/>
              </a:rPr>
              <a:t>Objetivos Específicos: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00000"/>
                </a:solidFill>
                <a:latin typeface="Arial"/>
              </a:rPr>
              <a:t>1. Levantamiento e Infraestructura: </a:t>
            </a:r>
            <a:r>
              <a:rPr sz="1400" b="0" i="0">
                <a:solidFill>
                  <a:srgbClr val="000000"/>
                </a:solidFill>
                <a:latin typeface="Arial"/>
              </a:rPr>
              <a:t>Caracterizar la red GPON pasiva (ODF, splitters PLC 1:4 y 1:16, cajas NAP y acometidas de fibra).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00000"/>
                </a:solidFill>
                <a:latin typeface="Arial"/>
              </a:rPr>
              <a:t>2. Modelado de Datos y Arquitectura: </a:t>
            </a:r>
            <a:r>
              <a:rPr sz="1400" b="0" i="0">
                <a:solidFill>
                  <a:srgbClr val="000000"/>
                </a:solidFill>
                <a:latin typeface="Arial"/>
              </a:rPr>
              <a:t>Diseñar la base de datos relacional y los diagramas estructurales (DER notación Chen, casos de uso y secuencia UML).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00000"/>
                </a:solidFill>
                <a:latin typeface="Arial"/>
              </a:rPr>
              <a:t>3. Cartografía Web Responsiva: </a:t>
            </a:r>
            <a:r>
              <a:rPr sz="1400" b="0" i="0">
                <a:solidFill>
                  <a:srgbClr val="000000"/>
                </a:solidFill>
                <a:latin typeface="Arial"/>
              </a:rPr>
              <a:t>Maquetar e implementar interfaces de usuario optimizadas para móviles con mapas satelitales en React Leaflet.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00000"/>
                </a:solidFill>
                <a:latin typeface="Arial"/>
              </a:rPr>
              <a:t>4. Backend Transaccional: </a:t>
            </a:r>
            <a:r>
              <a:rPr sz="1400" b="0" i="0">
                <a:solidFill>
                  <a:srgbClr val="000000"/>
                </a:solidFill>
                <a:latin typeface="Arial"/>
              </a:rPr>
              <a:t>Programar la API REST en Node.js/PostgreSQL con bloqueo pesimista (SELECT ... FOR UPDATE) y autenticación JWT.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00000"/>
                </a:solidFill>
                <a:latin typeface="Arial"/>
              </a:rPr>
              <a:t>5. Motor Offline-First: </a:t>
            </a:r>
            <a:r>
              <a:rPr sz="1400" b="0" i="0">
                <a:solidFill>
                  <a:srgbClr val="000000"/>
                </a:solidFill>
                <a:latin typeface="Arial"/>
              </a:rPr>
              <a:t>Desarrollar persistencia local en Dexie.js (IndexedDB) para sincronización automática de operaciones en campo.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00000"/>
                </a:solidFill>
                <a:latin typeface="Arial"/>
              </a:rPr>
              <a:t>6. Validación y Reportes: </a:t>
            </a:r>
            <a:r>
              <a:rPr sz="1400" b="0" i="0">
                <a:solidFill>
                  <a:srgbClr val="000000"/>
                </a:solidFill>
                <a:latin typeface="Arial"/>
              </a:rPr>
              <a:t>Ejecutar pruebas de consistencia concurrente, contrastes WCAG 2.1 y generación de reportes técnicos PDF.</a:t>
            </a:r>
          </a:p>
        </p:txBody>
      </p:sp>
      <p:sp>
        <p:nvSpPr>
          <p:cNvPr id="160" name="Google Shape;160;p9"/>
          <p:cNvSpPr/>
          <p:nvPr/>
        </p:nvSpPr>
        <p:spPr>
          <a:xfrm>
            <a:off x="6592725" y="13603"/>
            <a:ext cx="2551275" cy="830997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rgbClr val="7692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algn="r"/>
            <a:r>
              <a:rPr sz="4400" b="0" i="0">
                <a:solidFill>
                  <a:srgbClr val="76923C"/>
                </a:solidFill>
                <a:latin typeface="Calibri"/>
              </a:rPr>
              <a:t>Objetivos</a:t>
            </a:r>
            <a:endParaRPr b="0" i="0" sz="3500" u="none" cap="none" strike="noStrike">
              <a:solidFill>
                <a:srgbClr val="76923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9"/>
          <p:cNvSpPr/>
          <p:nvPr/>
        </p:nvSpPr>
        <p:spPr>
          <a:xfrm>
            <a:off x="8461665" y="6519446"/>
            <a:ext cx="682335" cy="338554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rgbClr val="7692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r>
              <a:rPr sz="1600" b="0" i="0">
                <a:solidFill>
                  <a:srgbClr val="76923C"/>
                </a:solidFill>
                <a:latin typeface="Calibri"/>
              </a:rPr>
              <a:t>9/15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4286256"/>
            <a:ext cx="9144000" cy="2571744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10"/>
          <p:cNvSpPr/>
          <p:nvPr/>
        </p:nvSpPr>
        <p:spPr>
          <a:xfrm>
            <a:off x="640080" y="960120"/>
            <a:ext cx="78638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r>
              <a:rPr sz="1450" b="1" i="0">
                <a:solidFill>
                  <a:srgbClr val="000000"/>
                </a:solidFill>
                <a:latin typeface="Arial"/>
              </a:rPr>
              <a:t>Para el desarrollo de la plataforma web se seleccionó un stack tecnológico desacoplado y orientado a resiliencia: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10"/>
          <p:cNvSpPr/>
          <p:nvPr/>
        </p:nvSpPr>
        <p:spPr>
          <a:xfrm>
            <a:off x="5540128" y="0"/>
            <a:ext cx="3603872" cy="830997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rgbClr val="7692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algn="r"/>
            <a:r>
              <a:rPr sz="4400" b="0" i="0">
                <a:solidFill>
                  <a:srgbClr val="76923C"/>
                </a:solidFill>
                <a:latin typeface="Calibri"/>
              </a:rPr>
              <a:t>Herramientas</a:t>
            </a:r>
            <a:endParaRPr b="0" i="0" sz="3500" u="none" cap="none" strike="noStrike">
              <a:solidFill>
                <a:srgbClr val="76923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0"/>
          <p:cNvSpPr/>
          <p:nvPr/>
        </p:nvSpPr>
        <p:spPr>
          <a:xfrm>
            <a:off x="8461665" y="6519446"/>
            <a:ext cx="682335" cy="338554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rgbClr val="7692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r>
              <a:rPr sz="1600" b="0" i="0">
                <a:solidFill>
                  <a:srgbClr val="76923C"/>
                </a:solidFill>
                <a:latin typeface="Calibri"/>
              </a:rPr>
              <a:t>10/15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10"/>
          <p:cNvSpPr txBox="1"/>
          <p:nvPr/>
        </p:nvSpPr>
        <p:spPr>
          <a:xfrm>
            <a:off x="731520" y="4160520"/>
            <a:ext cx="76809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algn="ctr"/>
            <a:r>
              <a:rPr sz="1400" b="0" i="0">
                <a:solidFill>
                  <a:srgbClr val="505050"/>
                </a:solidFill>
                <a:latin typeface="Calibri"/>
              </a:rPr>
              <a:t>Figura 3. Stack tecnológico desacoplado (Frontend PWA, Backend REST, Base de Datos y DevOps).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1" name="Picture 170" descr="fig_herramientas_gpon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31520" y="1600200"/>
            <a:ext cx="768096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9" name="Google Shape;189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4286256"/>
            <a:ext cx="9144000" cy="2571744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11"/>
          <p:cNvSpPr/>
          <p:nvPr/>
        </p:nvSpPr>
        <p:spPr>
          <a:xfrm>
            <a:off x="6242756" y="-6200"/>
            <a:ext cx="2901219" cy="830956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rgbClr val="7692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algn="r"/>
            <a:r>
              <a:rPr sz="4400" b="0" i="0">
                <a:solidFill>
                  <a:srgbClr val="76923C"/>
                </a:solidFill>
                <a:latin typeface="Calibri"/>
              </a:rPr>
              <a:t>Evidencias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11"/>
          <p:cNvSpPr/>
          <p:nvPr/>
        </p:nvSpPr>
        <p:spPr>
          <a:xfrm>
            <a:off x="8461665" y="6519446"/>
            <a:ext cx="682335" cy="338554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rgbClr val="7692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r>
              <a:rPr sz="1600" b="0" i="0">
                <a:solidFill>
                  <a:srgbClr val="76923C"/>
                </a:solidFill>
                <a:latin typeface="Calibri"/>
              </a:rPr>
              <a:t>11/15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11"/>
          <p:cNvSpPr/>
          <p:nvPr/>
        </p:nvSpPr>
        <p:spPr>
          <a:xfrm>
            <a:off x="731520" y="1005840"/>
            <a:ext cx="7680960" cy="3474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>
              <a:spcAft>
                <a:spcPts val="600"/>
              </a:spcAft>
            </a:pPr>
            <a:r>
              <a:rPr sz="1800" b="1" i="0">
                <a:solidFill>
                  <a:srgbClr val="76923C"/>
                </a:solidFill>
                <a:latin typeface="Arial"/>
              </a:rPr>
              <a:t>Principales entregables y componentes técnicos implementados: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spcAft>
                <a:spcPts val="500"/>
              </a:spcAft>
            </a:pPr>
            <a:r>
              <a:rPr sz="1450" b="1" i="0">
                <a:solidFill>
                  <a:srgbClr val="000000"/>
                </a:solidFill>
                <a:latin typeface="Arial"/>
              </a:rPr>
              <a:t>• Documentación Técnica Formal: </a:t>
            </a:r>
            <a:r>
              <a:rPr sz="1450" b="0" i="0">
                <a:solidFill>
                  <a:srgbClr val="000000"/>
                </a:solidFill>
                <a:latin typeface="Arial"/>
              </a:rPr>
              <a:t>Memoria de residencia completa con 66 figuras estandarizadas en blanco y negro, especificación de requerimientos y diagrama de flujo global ANSI/ISO.</a:t>
            </a:r>
          </a:p>
          <a:p>
            <a:pPr>
              <a:spcAft>
                <a:spcPts val="500"/>
              </a:spcAft>
            </a:pPr>
            <a:r>
              <a:rPr sz="1450" b="1" i="0">
                <a:solidFill>
                  <a:srgbClr val="000000"/>
                </a:solidFill>
                <a:latin typeface="Arial"/>
              </a:rPr>
              <a:t>• Mapeo Cartográfico GIS Interactivo: </a:t>
            </a:r>
            <a:r>
              <a:rPr sz="1450" b="0" i="0">
                <a:solidFill>
                  <a:srgbClr val="000000"/>
                </a:solidFill>
                <a:latin typeface="Arial"/>
              </a:rPr>
              <a:t>Prototipo funcional en React Leaflet con polilíneas de fibra, trazado de rutas, semáforo de saturación en cajas NAP y calibración satelital GPS.</a:t>
            </a:r>
          </a:p>
          <a:p>
            <a:pPr>
              <a:spcAft>
                <a:spcPts val="500"/>
              </a:spcAft>
            </a:pPr>
            <a:r>
              <a:rPr sz="1450" b="1" i="0">
                <a:solidFill>
                  <a:srgbClr val="000000"/>
                </a:solidFill>
                <a:latin typeface="Arial"/>
              </a:rPr>
              <a:t>• Matriz de Puertos y Bloqueo Concurrente: </a:t>
            </a:r>
            <a:r>
              <a:rPr sz="1450" b="0" i="0">
                <a:solidFill>
                  <a:srgbClr val="000000"/>
                </a:solidFill>
                <a:latin typeface="Arial"/>
              </a:rPr>
              <a:t>Chasis interactivo de 16 puertos SC-APC con resolución de colisiones mediante transacciones pesimistas (SELECT ... FOR UPDATE) en PostgreSQL.</a:t>
            </a:r>
          </a:p>
          <a:p>
            <a:pPr>
              <a:spcAft>
                <a:spcPts val="500"/>
              </a:spcAft>
            </a:pPr>
            <a:r>
              <a:rPr sz="1450" b="1" i="0">
                <a:solidFill>
                  <a:srgbClr val="000000"/>
                </a:solidFill>
                <a:latin typeface="Arial"/>
              </a:rPr>
              <a:t>• Repositorio de Código y Motor Offline: </a:t>
            </a:r>
            <a:r>
              <a:rPr sz="1450" b="0" i="0">
                <a:solidFill>
                  <a:srgbClr val="000000"/>
                </a:solidFill>
                <a:latin typeface="Arial"/>
              </a:rPr>
              <a:t>Base de código estructurada en TypeScript, modelos Sequelize y base de datos local Dexie.js (IndexedDB) para operación continua en campo.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7" name="Google Shape;197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065" y="4286256"/>
            <a:ext cx="9144000" cy="2571744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12"/>
          <p:cNvSpPr/>
          <p:nvPr/>
        </p:nvSpPr>
        <p:spPr>
          <a:xfrm>
            <a:off x="5712179" y="0"/>
            <a:ext cx="3431822" cy="830956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rgbClr val="7692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algn="r"/>
            <a:r>
              <a:rPr sz="4400" b="0" i="0">
                <a:solidFill>
                  <a:srgbClr val="76923C"/>
                </a:solidFill>
                <a:latin typeface="Calibri"/>
              </a:rPr>
              <a:t>Cronograma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12"/>
          <p:cNvSpPr/>
          <p:nvPr/>
        </p:nvSpPr>
        <p:spPr>
          <a:xfrm>
            <a:off x="8461665" y="6519446"/>
            <a:ext cx="682335" cy="338554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rgbClr val="7692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r>
              <a:rPr sz="1600" b="0" i="0">
                <a:solidFill>
                  <a:srgbClr val="76923C"/>
                </a:solidFill>
                <a:latin typeface="Calibri"/>
              </a:rPr>
              <a:t>12/15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1" name="Google Shape;201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95528" y="960120"/>
            <a:ext cx="6766560" cy="3886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12"/>
          <p:cNvSpPr txBox="1"/>
          <p:nvPr/>
        </p:nvSpPr>
        <p:spPr>
          <a:xfrm>
            <a:off x="731520" y="4919472"/>
            <a:ext cx="76809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algn="ctr"/>
            <a:r>
              <a:rPr sz="1350" b="0" i="0">
                <a:solidFill>
                  <a:srgbClr val="505050"/>
                </a:solidFill>
                <a:latin typeface="Calibri"/>
              </a:rPr>
              <a:t>Figura 4. Cronograma de actividades del proyecto de residencia profesional (Corte al 20 de septiembre de 2026).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4" name="Google Shape;21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4286256"/>
            <a:ext cx="9144000" cy="2571744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13"/>
          <p:cNvSpPr txBox="1"/>
          <p:nvPr/>
        </p:nvSpPr>
        <p:spPr>
          <a:xfrm>
            <a:off x="731520" y="1005840"/>
            <a:ext cx="7680960" cy="3474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>
              <a:spcAft>
                <a:spcPts val="500"/>
              </a:spcAft>
            </a:pPr>
            <a:r>
              <a:rPr sz="1700" b="1" i="0">
                <a:solidFill>
                  <a:srgbClr val="76923C"/>
                </a:solidFill>
                <a:latin typeface="Arial"/>
              </a:rPr>
              <a:t>Evaluación de avance conforme al cronograma de actividades: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spcAft>
                <a:spcPts val="500"/>
              </a:spcAft>
            </a:pPr>
            <a:r>
              <a:rPr sz="1400" b="1" i="0">
                <a:solidFill>
                  <a:srgbClr val="000000"/>
                </a:solidFill>
                <a:latin typeface="Arial"/>
              </a:rPr>
              <a:t>• Fases Cumplidas al 100% (Etapas 1 a 6): </a:t>
            </a:r>
            <a:r>
              <a:rPr sz="1400" b="0" i="0">
                <a:solidFill>
                  <a:srgbClr val="000000"/>
                </a:solidFill>
                <a:latin typeface="Arial"/>
              </a:rPr>
              <a:t>Se concluyeron exitosamente en tiempo y forma la inmersión técnica, levantamiento de requerimientos, diseño de arquitectura cliente-servidor, modelado DER y diseño de wireframes responsivos.</a:t>
            </a:r>
          </a:p>
          <a:p>
            <a:pPr>
              <a:spcAft>
                <a:spcPts val="500"/>
              </a:spcAft>
            </a:pPr>
            <a:r>
              <a:rPr sz="1400" b="1" i="0">
                <a:solidFill>
                  <a:srgbClr val="000000"/>
                </a:solidFill>
                <a:latin typeface="Arial"/>
              </a:rPr>
              <a:t>• Fase Actual en Desarrollo (~70% de avance): </a:t>
            </a:r>
            <a:r>
              <a:rPr sz="1400" b="0" i="0">
                <a:solidFill>
                  <a:srgbClr val="000000"/>
                </a:solidFill>
                <a:latin typeface="Arial"/>
              </a:rPr>
              <a:t>Se encuentra en ejecución la codificación de la API REST, la configuración de transacciones pesimistas en PostgreSQL y la persistencia local en Dexie.js para cuadrillas en campo.</a:t>
            </a:r>
          </a:p>
          <a:p>
            <a:pPr>
              <a:spcAft>
                <a:spcPts val="500"/>
              </a:spcAft>
            </a:pPr>
            <a:r>
              <a:rPr sz="1400" b="1" i="0">
                <a:solidFill>
                  <a:srgbClr val="000000"/>
                </a:solidFill>
                <a:latin typeface="Arial"/>
              </a:rPr>
              <a:t>• Fases Programadas por Ejecutar: </a:t>
            </a:r>
            <a:r>
              <a:rPr sz="1400" b="0" i="0">
                <a:solidFill>
                  <a:srgbClr val="000000"/>
                </a:solidFill>
                <a:latin typeface="Arial"/>
              </a:rPr>
              <a:t>Pruebas piloto con personal de cuadrilla en San José del Rincón, simulación de alta concurrencia y empaquetado final multicontenedor con Docker Compose.</a:t>
            </a:r>
          </a:p>
          <a:p>
            <a:pPr>
              <a:spcAft>
                <a:spcPts val="500"/>
              </a:spcAft>
            </a:pPr>
            <a:r>
              <a:rPr sz="1400" b="1" i="0">
                <a:solidFill>
                  <a:srgbClr val="000000"/>
                </a:solidFill>
                <a:latin typeface="Arial"/>
              </a:rPr>
              <a:t>• Diagnóstico Preliminar: </a:t>
            </a:r>
            <a:r>
              <a:rPr sz="1400" b="0" i="0">
                <a:solidFill>
                  <a:srgbClr val="000000"/>
                </a:solidFill>
                <a:latin typeface="Arial"/>
              </a:rPr>
              <a:t>El proyecto cumple rigurosamente con los plazos estipulados en el anteproyecto, demostrando la viabilidad técnica y operativa de la solución para GPON TELECOM S.A. de C.V.</a:t>
            </a:r>
          </a:p>
        </p:txBody>
      </p:sp>
      <p:sp>
        <p:nvSpPr>
          <p:cNvPr id="216" name="Google Shape;216;p13"/>
          <p:cNvSpPr/>
          <p:nvPr/>
        </p:nvSpPr>
        <p:spPr>
          <a:xfrm>
            <a:off x="2743200" y="0"/>
            <a:ext cx="5486400" cy="64008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rgbClr val="7692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algn="r"/>
            <a:r>
              <a:rPr sz="3800" b="0" i="0">
                <a:solidFill>
                  <a:srgbClr val="76923C"/>
                </a:solidFill>
                <a:latin typeface="Calibri"/>
              </a:rPr>
              <a:t>Conclusiones Preliminares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13"/>
          <p:cNvSpPr/>
          <p:nvPr/>
        </p:nvSpPr>
        <p:spPr>
          <a:xfrm>
            <a:off x="8461665" y="6519446"/>
            <a:ext cx="682335" cy="338554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rgbClr val="7692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r>
              <a:rPr sz="1600" b="0" i="0">
                <a:solidFill>
                  <a:srgbClr val="76923C"/>
                </a:solidFill>
                <a:latin typeface="Calibri"/>
              </a:rPr>
              <a:t>13/15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2" name="Google Shape;222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4286256"/>
            <a:ext cx="9144000" cy="2571744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27"/>
          <p:cNvSpPr txBox="1"/>
          <p:nvPr/>
        </p:nvSpPr>
        <p:spPr>
          <a:xfrm>
            <a:off x="731520" y="1051560"/>
            <a:ext cx="7680960" cy="3474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>
              <a:spcAft>
                <a:spcPts val="500"/>
              </a:spcAft>
            </a:pPr>
            <a:r>
              <a:rPr sz="1350" b="0" i="0">
                <a:solidFill>
                  <a:srgbClr val="000000"/>
                </a:solidFill>
                <a:latin typeface="Arial"/>
              </a:rPr>
              <a:t>• International Telecommunication Union. (2003). Recomendación ITU-T G.984.1 / G.984.2: Redes ópticas pasivas con capacidad de gigabit (GPON). Ginebra: ITU.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spcAft>
                <a:spcPts val="500"/>
              </a:spcAft>
            </a:pPr>
            <a:r>
              <a:rPr sz="1350" b="0" i="0">
                <a:solidFill>
                  <a:srgbClr val="000000"/>
                </a:solidFill>
                <a:latin typeface="Arial"/>
              </a:rPr>
              <a:t>• Tanenbaum, A. S., &amp; Wetherall, D. J. (2014). Redes de computadoras (5.ª ed.). Ciudad de México: Pearson Educación.</a:t>
            </a:r>
          </a:p>
          <a:p>
            <a:pPr>
              <a:spcAft>
                <a:spcPts val="500"/>
              </a:spcAft>
            </a:pPr>
            <a:r>
              <a:rPr sz="1350" b="0" i="0">
                <a:solidFill>
                  <a:srgbClr val="000000"/>
                </a:solidFill>
                <a:latin typeface="Arial"/>
              </a:rPr>
              <a:t>• Silberschatz, A., Korth, H. F., &amp; Sudarshan, S. (2019). Database System Concepts (7th ed.). Nueva York: McGraw-Hill.</a:t>
            </a:r>
          </a:p>
          <a:p>
            <a:pPr>
              <a:spcAft>
                <a:spcPts val="500"/>
              </a:spcAft>
            </a:pPr>
            <a:r>
              <a:rPr sz="1350" b="0" i="0">
                <a:solidFill>
                  <a:srgbClr val="000000"/>
                </a:solidFill>
                <a:latin typeface="Arial"/>
              </a:rPr>
              <a:t>• World Wide Web Consortium (W3C). (2018). Web Content Accessibility Guidelines (WCAG) 2.1. W3C Recommendation. https://www.w3.org/TR/WCAG21/</a:t>
            </a:r>
          </a:p>
          <a:p>
            <a:pPr>
              <a:spcAft>
                <a:spcPts val="500"/>
              </a:spcAft>
            </a:pPr>
            <a:r>
              <a:rPr sz="1350" b="0" i="0">
                <a:solidFill>
                  <a:srgbClr val="000000"/>
                </a:solidFill>
                <a:latin typeface="Arial"/>
              </a:rPr>
              <a:t>• PostgreSQL Global Development Group. (2024). PostgreSQL 16.0 Documentation: Explicit Locking and Transaction Isolation. https://www.postgresql.org/docs/16/</a:t>
            </a:r>
          </a:p>
        </p:txBody>
      </p:sp>
      <p:sp>
        <p:nvSpPr>
          <p:cNvPr id="224" name="Google Shape;224;p27"/>
          <p:cNvSpPr/>
          <p:nvPr/>
        </p:nvSpPr>
        <p:spPr>
          <a:xfrm>
            <a:off x="2743200" y="0"/>
            <a:ext cx="5486400" cy="640080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rgbClr val="7692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algn="r"/>
            <a:r>
              <a:rPr sz="3800" b="0" i="0">
                <a:solidFill>
                  <a:srgbClr val="76923C"/>
                </a:solidFill>
                <a:latin typeface="Calibri"/>
              </a:rPr>
              <a:t>Bibliografía y Referencias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27"/>
          <p:cNvSpPr/>
          <p:nvPr/>
        </p:nvSpPr>
        <p:spPr>
          <a:xfrm>
            <a:off x="8461665" y="6519446"/>
            <a:ext cx="682335" cy="338554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rgbClr val="7692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r>
              <a:rPr sz="1600" b="0" i="0">
                <a:solidFill>
                  <a:srgbClr val="76923C"/>
                </a:solidFill>
                <a:latin typeface="Calibri"/>
              </a:rPr>
              <a:t>14/15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4286256"/>
            <a:ext cx="9144000" cy="25717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Color" id="231" name="Google Shape;231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472" y="285728"/>
            <a:ext cx="1193801" cy="5683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anjose" id="232" name="Google Shape;232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356504" y="214290"/>
            <a:ext cx="1430338" cy="560388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14"/>
          <p:cNvSpPr txBox="1"/>
          <p:nvPr/>
        </p:nvSpPr>
        <p:spPr>
          <a:xfrm>
            <a:off x="6500826" y="6100724"/>
            <a:ext cx="2428892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algn="r"/>
            <a:r>
              <a:rPr sz="1800" b="0" i="0">
                <a:solidFill>
                  <a:srgbClr val="505050"/>
                </a:solidFill>
                <a:latin typeface="Calibri"/>
              </a:rPr>
              <a:t>Septiembre de 2026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14"/>
          <p:cNvSpPr/>
          <p:nvPr/>
        </p:nvSpPr>
        <p:spPr>
          <a:xfrm>
            <a:off x="1371600" y="1645920"/>
            <a:ext cx="5577840" cy="109728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algn="ctr"/>
            <a:r>
              <a:rPr sz="5600" b="0" i="0">
                <a:solidFill>
                  <a:srgbClr val="76923C"/>
                </a:solidFill>
                <a:latin typeface="Calibri"/>
              </a:rPr>
              <a:t>¡Muchas Gracias!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14"/>
          <p:cNvSpPr/>
          <p:nvPr/>
        </p:nvSpPr>
        <p:spPr>
          <a:xfrm>
            <a:off x="8461665" y="6519446"/>
            <a:ext cx="682335" cy="338554"/>
          </a:xfrm>
          <a:prstGeom prst="rect">
            <a:avLst/>
          </a:prstGeom>
          <a:solidFill>
            <a:schemeClr val="lt1"/>
          </a:solidFill>
          <a:ln cap="flat" cmpd="sng" w="25400">
            <a:solidFill>
              <a:srgbClr val="7692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r>
              <a:rPr sz="1600" b="0" i="0">
                <a:solidFill>
                  <a:srgbClr val="76923C"/>
                </a:solidFill>
                <a:latin typeface="Calibri"/>
              </a:rPr>
              <a:t>15/15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14"/>
          <p:cNvSpPr/>
          <p:nvPr/>
        </p:nvSpPr>
        <p:spPr>
          <a:xfrm>
            <a:off x="914400" y="2834640"/>
            <a:ext cx="6492240" cy="109728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algn="ctr"/>
            <a:r>
              <a:rPr sz="4200" b="0" i="0">
                <a:solidFill>
                  <a:srgbClr val="76923C"/>
                </a:solidFill>
                <a:latin typeface="Calibri"/>
              </a:rPr>
              <a:t>¿Preguntas o Comentarios?
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/>
            <a:r>
              <a:rPr sz="1800" b="0" i="1">
                <a:solidFill>
                  <a:srgbClr val="505050"/>
                </a:solidFill>
                <a:latin typeface="Arial"/>
              </a:rPr>
              <a:t>Espacio de retroalimentación técnica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2002-01-26T11:17:21Z</dcterms:created>
  <dc:creator>luid</dc:creator>
</cp:coreProperties>
</file>