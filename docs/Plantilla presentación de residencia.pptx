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embeddedFontLst>
    <p:embeddedFont>
      <p:font typeface="Tahom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3" roundtripDataSignature="AMtx7mi6nF6pup/LqDrkjYTVN8IMSeH6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Tahoma-regular.fntdata"/><Relationship Id="rId22" Type="http://schemas.openxmlformats.org/officeDocument/2006/relationships/font" Target="fonts/Tahoma-bold.fntdata"/><Relationship Id="rId2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8.png"/><Relationship Id="rId9" Type="http://schemas.openxmlformats.org/officeDocument/2006/relationships/image" Target="../media/image12.png"/><Relationship Id="rId10" Type="http://schemas.openxmlformats.org/officeDocument/2006/relationships/image" Target="../media/image11.png"/><Relationship Id="rId11" Type="http://schemas.openxmlformats.org/officeDocument/2006/relationships/image" Target="../media/image17.png"/><Relationship Id="rId12" Type="http://schemas.openxmlformats.org/officeDocument/2006/relationships/image" Target="../media/image10.png"/><Relationship Id="rId13" Type="http://schemas.openxmlformats.org/officeDocument/2006/relationships/image" Target="../media/image9.png"/><Relationship Id="rId14" Type="http://schemas.openxmlformats.org/officeDocument/2006/relationships/image" Target="../media/image6.png"/><Relationship Id="rId15" Type="http://schemas.openxmlformats.org/officeDocument/2006/relationships/image" Target="../media/image13.png"/><Relationship Id="rId16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hyperlink" Target="https://sg.com.mx/revista/17/sqlite-la-base-datos-embebida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1.jpg"/><Relationship Id="rId5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Color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njose" id="90" name="Google Shape;9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6300192" y="6100724"/>
            <a:ext cx="26295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r"/>
            <a:r>
              <a:rPr sz="1800" b="0" i="0">
                <a:solidFill>
                  <a:srgbClr val="505050"/>
                </a:solidFill>
                <a:latin typeface="Calibri"/>
              </a:rPr>
              <a:t>Septiembre de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23528" y="1576409"/>
            <a:ext cx="8606189" cy="4370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ctr"/>
            <a:r>
              <a:rPr sz="1700" b="0" i="0">
                <a:solidFill>
                  <a:srgbClr val="505050"/>
                </a:solidFill>
                <a:latin typeface="Arial"/>
              </a:rPr>
              <a:t>Carrera: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000000"/>
                </a:solidFill>
                <a:latin typeface="Arial"/>
              </a:rPr>
              <a:t>Ingeniería en Sistemas Computacionales</a:t>
            </a:r>
          </a:p>
          <a:p>
            <a:pPr algn="ctr">
              <a:spcAft>
                <a:spcPts val="1200"/>
              </a:spcAft>
            </a:pPr>
            <a:r>
              <a:rPr sz="2100" b="1" i="0">
                <a:solidFill>
                  <a:srgbClr val="76923C"/>
                </a:solidFill>
                <a:latin typeface="Arial"/>
              </a:rPr>
              <a:t>“Sistema de Inventario y Mapeo Lógico de Redes GPON / FTTx”</a:t>
            </a:r>
          </a:p>
          <a:p>
            <a:pPr algn="ctr"/>
            <a:r>
              <a:rPr sz="1700" b="0" i="0">
                <a:solidFill>
                  <a:srgbClr val="505050"/>
                </a:solidFill>
                <a:latin typeface="Arial"/>
              </a:rPr>
              <a:t>Presenta:</a:t>
            </a:r>
          </a:p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000000"/>
                </a:solidFill>
                <a:latin typeface="Arial"/>
              </a:rPr>
              <a:t>Mauricio Nolazco Lonjino</a:t>
            </a:r>
          </a:p>
          <a:p>
            <a:pPr algn="ctr"/>
            <a:r>
              <a:rPr sz="1700" b="0" i="0">
                <a:solidFill>
                  <a:srgbClr val="505050"/>
                </a:solidFill>
                <a:latin typeface="Arial"/>
              </a:rPr>
              <a:t>Asesor Interno:</a:t>
            </a:r>
          </a:p>
          <a:p>
            <a:pPr algn="ctr"/>
            <a:r>
              <a:rPr sz="1900" b="1" i="0">
                <a:solidFill>
                  <a:srgbClr val="000000"/>
                </a:solidFill>
                <a:latin typeface="Arial"/>
              </a:rPr>
              <a:t>I.S.C. Leonardo Becerril Sánchez</a:t>
            </a:r>
          </a:p>
        </p:txBody>
      </p:sp>
      <p:sp>
        <p:nvSpPr>
          <p:cNvPr id="93" name="Google Shape;93;p1"/>
          <p:cNvSpPr txBox="1"/>
          <p:nvPr/>
        </p:nvSpPr>
        <p:spPr>
          <a:xfrm>
            <a:off x="1043608" y="764704"/>
            <a:ext cx="671456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Calibri"/>
              </a:rPr>
              <a:t>UNIVERSIDAD MEXIQUENSE DEL BICENTENARIO
</a:t>
            </a:r>
            <a:r>
              <a:rPr sz="2000" b="1" i="0">
                <a:solidFill>
                  <a:srgbClr val="000000"/>
                </a:solidFill>
                <a:latin typeface="Calibri"/>
              </a:rPr>
              <a:t>UNIDAD DE ESTUDIOS SUPERIORES SAN JOSÉ DEL RINCÓN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6918564" y="13648"/>
            <a:ext cx="221868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914400" y="1005840"/>
            <a:ext cx="7498079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l">
              <a:lnSpc>
                <a:spcPct val="120000"/>
              </a:lnSpc>
              <a:defRPr sz="1400" b="0" i="0">
                <a:solidFill>
                  <a:srgbClr val="1F2937"/>
                </a:solidFill>
                <a:latin typeface="Arial"/>
              </a:defRPr>
              <a:spcBef>
                <a:spcPts val="0"/>
              </a:spcBef>
              <a:spcAft>
                <a:spcPts val="400"/>
              </a:spcAft>
              <a:buNone/>
            </a:pPr>
            <a:r>
              <a:t>1. Empresa (Ubicación Geográfica y Organigrama)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  <a:buNone/>
            </a:pPr>
            <a:r>
              <a:t>2. Introducción al Proyecto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  <a:buNone/>
            </a:pPr>
            <a:r>
              <a:t>3. Planteamiento del Problema y Pregunta de Investigación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  <a:buNone/>
            </a:pPr>
            <a:r>
              <a:t>4. Justificación Técnica y Operativa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  <a:buNone/>
            </a:pPr>
            <a:r>
              <a:t>5. Objetivos del Proyecto (General y Específicos)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  <a:buNone/>
            </a:pPr>
            <a:r>
              <a:t>6. Herramientas Tecnológicas (Stack de Software)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  <a:buNone/>
            </a:pPr>
            <a:r>
              <a:t>7. Evidencias de Avance Técnico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  <a:buNone/>
            </a:pPr>
            <a:r>
              <a:t>8. Cronograma de Actividades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  <a:buNone/>
            </a:pPr>
            <a:r>
              <a:t>9. Conclusiones Preliminares (Avance)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1F2937"/>
                </a:solidFill>
                <a:latin typeface="Arial"/>
              </a:defRPr>
              <a:buNone/>
            </a:pPr>
            <a:r>
              <a:t>10. Bibliografía y Referencias</a:t>
            </a:r>
          </a:p>
        </p:txBody>
      </p:sp>
      <p:sp>
        <p:nvSpPr>
          <p:cNvPr id="101" name="Google Shape;101;p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2/15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731520" y="1005840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algn="l">
              <a:lnSpc>
                <a:spcPct val="130000"/>
              </a:lnSpc>
              <a:defRPr sz="1500" b="0" i="0">
                <a:solidFill>
                  <a:srgbClr val="1F2937"/>
                </a:solidFill>
                <a:latin typeface="Arial"/>
              </a:defRPr>
              <a:spcBef>
                <a:spcPts val="0"/>
              </a:spcBef>
              <a:spcAft>
                <a:spcPts val="800"/>
              </a:spcAft>
              <a:buNone/>
            </a:pPr>
            <a:r>
              <a:t>GPON TELECOM S.A. de C.V. es una empresa proveedora de servicios de telecomunicaciones e Internet de alta velocidad mediante fibra óptica (FTTx), ubicada en San José del Rincón, Estado de México, cuya misión operativa se enfoca en brindar conectividad digital confiable a comunidades urbanas y rurales mediante infraestructura pasiva GPON de última generación.</a:t>
            </a:r>
            <a:endParaRPr/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5922512" y="25758"/>
            <a:ext cx="296536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Empresa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3/15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2446" t="16890"/>
          <a:stretch/>
        </p:blipFill>
        <p:spPr>
          <a:xfrm>
            <a:off x="1645920" y="2560320"/>
            <a:ext cx="5029200" cy="224028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3"/>
          <p:cNvSpPr txBox="1"/>
          <p:nvPr/>
        </p:nvSpPr>
        <p:spPr>
          <a:xfrm>
            <a:off x="731520" y="4892040"/>
            <a:ext cx="76809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ctr"/>
            <a:r>
              <a:rPr sz="1400" b="0" i="0">
                <a:solidFill>
                  <a:srgbClr val="505050"/>
                </a:solidFill>
                <a:latin typeface="Calibri"/>
              </a:rPr>
              <a:t>Figura 1. Localización geográfica de la empresa GPON TELECOM S.A. de C.V.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922509" y="25758"/>
            <a:ext cx="2965364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Empresa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4/15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0" y="914400"/>
            <a:ext cx="621792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731520" y="4956048"/>
            <a:ext cx="76809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ctr"/>
            <a:r>
              <a:rPr sz="1400" b="0" i="0">
                <a:solidFill>
                  <a:srgbClr val="505050"/>
                </a:solidFill>
                <a:latin typeface="Calibri"/>
              </a:rPr>
              <a:t>Figura 2. Organigrama de la empresa GPON TELECOM S.A. de C.V.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731520" y="1005840"/>
            <a:ext cx="76809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l">
              <a:defRPr sz="1500" b="0" i="0">
                <a:solidFill>
                  <a:srgbClr val="1F2937"/>
                </a:solidFill>
                <a:latin typeface="Arial"/>
              </a:defRPr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>El presente proyecto de residencia comprende el desarrollo de una plataforma web integral para el inventario centralizado y mapeo geoespacial de la red de fibra óptica GPON/FTTx de la empresa GPON TELECOM S.A. de C.V. Su propósito fundamental es modernizar y reemplazar la gestión manual desarticulada en campo, previniendo colisiones en la asignación de puertos y saturación imprevista en cajas NAP. La solución articula una arquitectura desacoplada con visor cartográfico interactivo en React y Leaflet, un backend transaccional robusto en Node.js con Express y una base de datos relacional en PostgreSQL con control de concurrencia ACID, permitiendo al personal técnico y de soporte consultar, administrar y actualizar en tiempo real el estado físico y lógico de toda la infraestructura pasiva.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666381" y="25758"/>
            <a:ext cx="3477619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Introducción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5/15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731520" y="960120"/>
            <a:ext cx="76809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l">
              <a:lnSpc>
                <a:spcPct val="130000"/>
              </a:lnSpc>
              <a:defRPr sz="1450" b="0" i="0">
                <a:solidFill>
                  <a:srgbClr val="1F2937"/>
                </a:solidFill>
                <a:latin typeface="Arial"/>
              </a:defRPr>
              <a:spcBef>
                <a:spcPts val="0"/>
              </a:spcBef>
              <a:spcAft>
                <a:spcPts val="1200"/>
              </a:spcAft>
              <a:buNone/>
            </a:pPr>
            <a:r>
              <a:t>Actualmente, la empresa GPON TELECOM S.A. de C.V. enfrenta severas dificultades operativas derivadas de la gestión manual y desarticulada en el inventario de su red de fibra óptica pasiva. La carencia de un registro digital centralizado provoca frecuentes colisiones por asignación concurrente de puertos entre cuadrillas de campo y personal de NOC, saturación inadvertida en cajas terminales NAP y demoras críticas en la provisión de nuevos suscriptores, dificultando la supervisión técnica y la toma de decisiones sobre la infraestructura de telecomunicaciones.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50" b="1" i="0">
                <a:solidFill>
                  <a:srgbClr val="111827"/>
                </a:solidFill>
                <a:latin typeface="Arial"/>
              </a:defRPr>
              <a:buNone/>
            </a:pPr>
            <a:r>
              <a:t>Pregunta de Investigación: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 sz="1450" b="0" i="1">
                <a:solidFill>
                  <a:srgbClr val="1F2937"/>
                </a:solidFill>
                <a:latin typeface="Arial"/>
              </a:defRPr>
              <a:buNone/>
            </a:pPr>
            <a:r>
              <a:t>¿El desarrollo e implementación de un sistema web integral de inventario y mapeo lógico permite modernizar la gestión operativa y optimizar la administración de la red de fibra óptica GPON/FTTx en la empresa GPON TELECOM S.A. de C.V.?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450" b="1" i="0">
                <a:solidFill>
                  <a:srgbClr val="2563EB"/>
                </a:solidFill>
                <a:latin typeface="Arial"/>
              </a:defRPr>
              <a:buNone/>
            </a:pPr>
            <a:r>
              <a:t>Respuesta: Sí.</a:t>
            </a:r>
          </a:p>
        </p:txBody>
      </p:sp>
      <p:sp>
        <p:nvSpPr>
          <p:cNvPr id="136" name="Google Shape;136;p6"/>
          <p:cNvSpPr/>
          <p:nvPr/>
        </p:nvSpPr>
        <p:spPr>
          <a:xfrm>
            <a:off x="1966436" y="0"/>
            <a:ext cx="7162218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Planteamiento del problema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6/15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5909948" y="0"/>
            <a:ext cx="3213508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Justificación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7/15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31520" y="1005840"/>
            <a:ext cx="76809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l">
              <a:defRPr sz="1500" b="0" i="0">
                <a:solidFill>
                  <a:srgbClr val="1F2937"/>
                </a:solidFill>
                <a:latin typeface="Arial"/>
              </a:defRPr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>La implementación de este sistema se justifica al transformar integralmente la operatividad y rentabilidad de GPON TELECOM S.A. de C.V., automatizando la asignación y liberación de puertos SC-APC para reducir los tiempos de atención técnica de 45 a tan solo 15 minutos por suscriptor. Asimismo, faculta al centro de operaciones y cuadrillas para disponer de trazabilidad geoespacial en tiempo real con semaforización de saturación, disminuyendo en un 80% los traslados técnicos fallidos por cajas saturadas y protegiendo de forma sustentable la inversión en la infraestructura pasiva de fibra óptica.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731520" y="1005840"/>
            <a:ext cx="76809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l">
              <a:defRPr sz="1600" b="1" i="0">
                <a:solidFill>
                  <a:srgbClr val="111827"/>
                </a:solidFill>
                <a:latin typeface="Arial"/>
              </a:defR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>Objetivo General: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  <a:defRPr sz="1500" b="0" i="0">
                <a:solidFill>
                  <a:srgbClr val="1F2937"/>
                </a:solidFill>
                <a:latin typeface="Arial"/>
              </a:defRPr>
              <a:buNone/>
            </a:pPr>
            <a:r>
              <a:t>Desarrollar una aplicación web para el inventario y mapeo lógico de redes GPON/FTTx, mediante el diseño de vistas tabulares y diagramas lógicos simples, para optimizar el control de la infraestructura por parte del equipo técnico y de soporte.</a:t>
            </a:r>
          </a:p>
        </p:txBody>
      </p:sp>
      <p:sp>
        <p:nvSpPr>
          <p:cNvPr id="152" name="Google Shape;152;p8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Objetivos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8/15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731520" y="960120"/>
            <a:ext cx="76809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l">
              <a:defRPr sz="1600" b="1" i="0">
                <a:solidFill>
                  <a:srgbClr val="111827"/>
                </a:solidFill>
                <a:latin typeface="Arial"/>
              </a:defR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>Objetivos Específicos: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400" b="0" i="0">
                <a:solidFill>
                  <a:srgbClr val="1F2937"/>
                </a:solidFill>
                <a:latin typeface="Arial"/>
              </a:defRPr>
              <a:buNone/>
            </a:pPr>
            <a:r>
              <a:t>1. Analizar los requerimientos operativos de la red de fibra óptica mediante el levantamiento de información sobre el hardware (NAP/ODF), para diseñar la arquitectura del sistema y el modelo de la base de datos.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400" b="0" i="0">
                <a:solidFill>
                  <a:srgbClr val="1F2937"/>
                </a:solidFill>
                <a:latin typeface="Arial"/>
              </a:defRPr>
              <a:buNone/>
            </a:pPr>
            <a:r>
              <a:t>2. Construir una interfaz web responsiva a través del uso de tecnologías de desarrollo frontend, para que los técnicos de campo actualicen desde su celular el estado de los puertos (libres, ocupados, dañados).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400" b="0" i="0">
                <a:solidFill>
                  <a:srgbClr val="1F2937"/>
                </a:solidFill>
                <a:latin typeface="Arial"/>
              </a:defRPr>
              <a:buNone/>
            </a:pPr>
            <a:r>
              <a:t>3. Programar el backend del sistema mediante la creación de una API centralizada, para gestionar la información de los activos y vincular los puertos de red correspondientes a los datos de los clientes.</a:t>
            </a:r>
          </a:p>
        </p:txBody>
      </p:sp>
      <p:sp>
        <p:nvSpPr>
          <p:cNvPr id="160" name="Google Shape;160;p9"/>
          <p:cNvSpPr/>
          <p:nvPr/>
        </p:nvSpPr>
        <p:spPr>
          <a:xfrm>
            <a:off x="6592725" y="13603"/>
            <a:ext cx="2551275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Objetivos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9/15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"/>
          <p:cNvSpPr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450" b="0" i="0">
                <a:solidFill>
                  <a:srgbClr val="1F2937"/>
                </a:solidFill>
                <a:latin typeface="Arial"/>
              </a:defRPr>
              <a:buNone/>
            </a:pPr>
            <a:r>
              <a:t>Para el desarrollo de la plataforma web se seleccionó un stack tecnológico desacoplado, moderno y de alto rendimiento: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540128" y="0"/>
            <a:ext cx="3603872" cy="8309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Herramientas</a:t>
            </a:r>
            <a:endParaRPr b="0" i="0" sz="3500" u="none" cap="none" strike="noStrike">
              <a:solidFill>
                <a:srgbClr val="7692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10/15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731520" y="416052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ctr"/>
            <a:r>
              <a:rPr sz="1400" b="0" i="0">
                <a:solidFill>
                  <a:srgbClr val="505050"/>
                </a:solidFill>
                <a:latin typeface="Calibri"/>
              </a:rPr>
              <a:t>Figura 3. Stack tecnológico desacoplado (Frontend PWA, Backend REST, Base de Datos y DevOps).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Picture 170" descr="fig_herramientas_gpo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520" y="1600200"/>
            <a:ext cx="7680960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/>
          <p:nvPr/>
        </p:nvSpPr>
        <p:spPr>
          <a:xfrm>
            <a:off x="6242756" y="-6200"/>
            <a:ext cx="2901219" cy="8309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Evidencias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11/15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731520" y="1005840"/>
            <a:ext cx="76809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l">
              <a:defRPr sz="1500" b="1" i="0">
                <a:solidFill>
                  <a:srgbClr val="111827"/>
                </a:solidFill>
                <a:latin typeface="Arial"/>
              </a:defR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>Componentes Técnicos y Entregables Desarrollados: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400" b="0" i="0">
                <a:solidFill>
                  <a:srgbClr val="1F2937"/>
                </a:solidFill>
                <a:latin typeface="Arial"/>
              </a:defRPr>
              <a:buNone/>
            </a:pPr>
            <a:r>
              <a:t>Los principales componentes técnicos desarrollados a la fecha comprenden la documentación técnica formal de residencia integrada por 82 figuras y 26 tablas estandarizadas de ingeniería, el prototipo funcional del visor cartográfico en React Leaflet con trazado vectorial de fibra y semaforización de saturación en cajas NAP, la matriz interactiva de chasis de 16 puertos SC-APC gobernada por transacciones pesimistas en PostgreSQL para prevenir colisiones concurrentes, así como la base de código modular estructurada en TypeScript con modelos Sequelize y endpoints REST para la administración centralizada de abonados y puertos.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65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2"/>
          <p:cNvSpPr/>
          <p:nvPr/>
        </p:nvSpPr>
        <p:spPr>
          <a:xfrm>
            <a:off x="5712179" y="0"/>
            <a:ext cx="3431822" cy="83095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r"/>
            <a:r>
              <a:rPr sz="4400" b="0" i="0">
                <a:solidFill>
                  <a:srgbClr val="76923C"/>
                </a:solidFill>
                <a:latin typeface="Calibri"/>
              </a:rPr>
              <a:t>Cronograma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12/15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528" y="960120"/>
            <a:ext cx="676656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2"/>
          <p:cNvSpPr txBox="1"/>
          <p:nvPr/>
        </p:nvSpPr>
        <p:spPr>
          <a:xfrm>
            <a:off x="731520" y="4919472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ctr"/>
            <a:r>
              <a:rPr sz="1350" b="0" i="0">
                <a:solidFill>
                  <a:srgbClr val="505050"/>
                </a:solidFill>
                <a:latin typeface="Calibri"/>
              </a:rPr>
              <a:t>Figura 4. Cronograma de actividades del proyecto de residencia profesional (Corte al 20 de septiembre de 2026).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3"/>
          <p:cNvSpPr txBox="1"/>
          <p:nvPr/>
        </p:nvSpPr>
        <p:spPr>
          <a:xfrm>
            <a:off x="731520" y="1005840"/>
            <a:ext cx="76809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  <a:defRPr sz="1500" b="0" i="0">
                <a:solidFill>
                  <a:srgbClr val="1F2937"/>
                </a:solidFill>
                <a:latin typeface="Arial"/>
              </a:defRPr>
              <a:buNone/>
            </a:pPr>
            <a:r>
              <a:t>Con base en el cronograma de actividades planificado, el proyecto registra actualmente un avance físico y metodológico estimado del 40%, cumpliendo satisfactoriamente en tiempo y forma con las fases de levantamiento de infraestructura, análisis formal de requerimientos, diseño arquitectónico del software y prototipado inicial del visor cartográfico y del backend transaccional, consolidando las bases técnicas para el cierre de la implementación y pruebas operativas en campo durante las semanas subsecuentes.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2743200" y="0"/>
            <a:ext cx="5486400" cy="64008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r"/>
            <a:r>
              <a:rPr sz="3800" b="0" i="0">
                <a:solidFill>
                  <a:srgbClr val="76923C"/>
                </a:solidFill>
                <a:latin typeface="Calibri"/>
              </a:rPr>
              <a:t>Conclusiones Preliminares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13/15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 txBox="1"/>
          <p:nvPr/>
        </p:nvSpPr>
        <p:spPr>
          <a:xfrm>
            <a:off x="731520" y="1051560"/>
            <a:ext cx="76809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l">
              <a:lnSpc>
                <a:spcPct val="115000"/>
              </a:lnSpc>
              <a:defRPr sz="1150" b="0" i="0">
                <a:solidFill>
                  <a:srgbClr val="1F2937"/>
                </a:solidFill>
                <a:latin typeface="Arial"/>
              </a:defRPr>
              <a:spcBef>
                <a:spcPts val="0"/>
              </a:spcBef>
              <a:spcAft>
                <a:spcPts val="600"/>
              </a:spcAft>
              <a:buNone/>
            </a:pPr>
            <a:r>
              <a:t>International Telecommunication Union. (2003). Recomendación ITU-T G.984.1 / G.984.2: Redes ópticas pasivas con capacidad de gigabit (GPON). Ginebra: ITU.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1F2937"/>
                </a:solidFill>
                <a:latin typeface="Arial"/>
              </a:defRPr>
              <a:buNone/>
            </a:pPr>
            <a:r>
              <a:t>Tanenbaum, A. S., &amp; Wetherall, D. J. (2014). Redes de computadoras (5.ª ed.). Ciudad de México: Pearson Educación.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1F2937"/>
                </a:solidFill>
                <a:latin typeface="Arial"/>
              </a:defRPr>
              <a:buNone/>
            </a:pPr>
            <a:r>
              <a:t>Silberschatz, A., Korth, H. F., &amp; Sudarshan, S. (2019). Database System Concepts (7th ed.). Nueva York: McGraw-Hill.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1F2937"/>
                </a:solidFill>
                <a:latin typeface="Arial"/>
              </a:defRPr>
              <a:buNone/>
            </a:pPr>
            <a:r>
              <a:t>World Wide Web Consortium (W3C). (2018). Web Content Accessibility Guidelines (WCAG) 2.1. W3C Recommendation. https://www.w3.org/TR/WCAG21/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50" b="0" i="0">
                <a:solidFill>
                  <a:srgbClr val="1F2937"/>
                </a:solidFill>
                <a:latin typeface="Arial"/>
              </a:defRPr>
              <a:buNone/>
            </a:pPr>
            <a:r>
              <a:t>PostgreSQL Global Development Group. (2024). PostgreSQL 16.0 Documentation: Explicit Locking and Transaction Isolation. https://www.postgresql.org/docs/16/</a:t>
            </a:r>
          </a:p>
        </p:txBody>
      </p:sp>
      <p:sp>
        <p:nvSpPr>
          <p:cNvPr id="224" name="Google Shape;224;p27"/>
          <p:cNvSpPr/>
          <p:nvPr/>
        </p:nvSpPr>
        <p:spPr>
          <a:xfrm>
            <a:off x="2743200" y="0"/>
            <a:ext cx="5486400" cy="64008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r"/>
            <a:r>
              <a:rPr sz="3800" b="0" i="0">
                <a:solidFill>
                  <a:srgbClr val="76923C"/>
                </a:solidFill>
                <a:latin typeface="Calibri"/>
              </a:rPr>
              <a:t>Bibliografía y Referencias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14/15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6256"/>
            <a:ext cx="9144000" cy="2571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Color" id="231" name="Google Shape;23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72" y="285728"/>
            <a:ext cx="1193801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njose" id="232" name="Google Shape;23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504" y="214290"/>
            <a:ext cx="1430338" cy="560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4"/>
          <p:cNvSpPr txBox="1"/>
          <p:nvPr/>
        </p:nvSpPr>
        <p:spPr>
          <a:xfrm>
            <a:off x="6500826" y="6100724"/>
            <a:ext cx="24288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r"/>
            <a:r>
              <a:rPr sz="1800" b="0" i="0">
                <a:solidFill>
                  <a:srgbClr val="505050"/>
                </a:solidFill>
                <a:latin typeface="Calibri"/>
              </a:rPr>
              <a:t>Septiembre de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1371600" y="1645920"/>
            <a:ext cx="5577840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ctr"/>
            <a:r>
              <a:rPr sz="5600" b="0" i="0">
                <a:solidFill>
                  <a:srgbClr val="76923C"/>
                </a:solidFill>
                <a:latin typeface="Calibri"/>
              </a:rPr>
              <a:t>¡Muchas 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8461665" y="6519446"/>
            <a:ext cx="682335" cy="33855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rPr sz="1600" b="0" i="0">
                <a:solidFill>
                  <a:srgbClr val="76923C"/>
                </a:solidFill>
                <a:latin typeface="Calibri"/>
              </a:rPr>
              <a:t>15/15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914400" y="2834640"/>
            <a:ext cx="6492240" cy="1097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algn="ctr"/>
            <a:r>
              <a:rPr sz="4200" b="0" i="0">
                <a:solidFill>
                  <a:srgbClr val="76923C"/>
                </a:solidFill>
                <a:latin typeface="Calibri"/>
              </a:rPr>
              <a:t>¿Preguntas o Comentarios?
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1800" b="0" i="1">
                <a:solidFill>
                  <a:srgbClr val="505050"/>
                </a:solidFill>
                <a:latin typeface="Arial"/>
              </a:rPr>
              <a:t>Espacio de retroalimentación técnica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2002-01-26T11:17:21Z</dcterms:created>
  <dc:creator>luid</dc:creator>
</cp:coreProperties>
</file>