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embeddedFontLst>
    <p:embeddedFont>
      <p:font typeface="Tahoma" panose="020B0604030504040204" pitchFamily="3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i6nF6pup/LqDrkjYTVN8IMSeH6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6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Nolazco" userId="8e064c700b586176" providerId="LiveId" clId="{48E4426C-FD85-428B-8823-6908DB42E28D}"/>
    <pc:docChg chg="custSel modSld">
      <pc:chgData name="Mauricio Nolazco" userId="8e064c700b586176" providerId="LiveId" clId="{48E4426C-FD85-428B-8823-6908DB42E28D}" dt="2026-09-24T18:20:28.730" v="556" actId="1076"/>
      <pc:docMkLst>
        <pc:docMk/>
      </pc:docMkLst>
      <pc:sldChg chg="addSp delSp modSp mod">
        <pc:chgData name="Mauricio Nolazco" userId="8e064c700b586176" providerId="LiveId" clId="{48E4426C-FD85-428B-8823-6908DB42E28D}" dt="2026-09-24T18:20:28.730" v="556" actId="1076"/>
        <pc:sldMkLst>
          <pc:docMk/>
          <pc:sldMk cId="0" sldId="265"/>
        </pc:sldMkLst>
        <pc:spChg chg="del mod">
          <ac:chgData name="Mauricio Nolazco" userId="8e064c700b586176" providerId="LiveId" clId="{48E4426C-FD85-428B-8823-6908DB42E28D}" dt="2026-09-24T17:36:15.427" v="507"/>
          <ac:spMkLst>
            <pc:docMk/>
            <pc:sldMk cId="0" sldId="265"/>
            <ac:spMk id="170" creationId="{00000000-0000-0000-0000-000000000000}"/>
          </ac:spMkLst>
        </pc:spChg>
        <pc:picChg chg="add mod">
          <ac:chgData name="Mauricio Nolazco" userId="8e064c700b586176" providerId="LiveId" clId="{48E4426C-FD85-428B-8823-6908DB42E28D}" dt="2026-09-24T18:20:21.477" v="552" actId="1076"/>
          <ac:picMkLst>
            <pc:docMk/>
            <pc:sldMk cId="0" sldId="265"/>
            <ac:picMk id="2" creationId="{78F6BCC0-3617-36B2-93C5-14655A9D9FF0}"/>
          </ac:picMkLst>
        </pc:picChg>
        <pc:picChg chg="add mod">
          <ac:chgData name="Mauricio Nolazco" userId="8e064c700b586176" providerId="LiveId" clId="{48E4426C-FD85-428B-8823-6908DB42E28D}" dt="2026-09-24T18:20:24.942" v="554" actId="1076"/>
          <ac:picMkLst>
            <pc:docMk/>
            <pc:sldMk cId="0" sldId="265"/>
            <ac:picMk id="3" creationId="{4D5B106B-C4A7-E920-E501-8B97A4ECB477}"/>
          </ac:picMkLst>
        </pc:picChg>
        <pc:picChg chg="add mod">
          <ac:chgData name="Mauricio Nolazco" userId="8e064c700b586176" providerId="LiveId" clId="{48E4426C-FD85-428B-8823-6908DB42E28D}" dt="2026-09-24T18:20:28.730" v="556" actId="1076"/>
          <ac:picMkLst>
            <pc:docMk/>
            <pc:sldMk cId="0" sldId="265"/>
            <ac:picMk id="4" creationId="{113E8C31-745F-E560-9EB3-5C6C9391D8C0}"/>
          </ac:picMkLst>
        </pc:picChg>
        <pc:picChg chg="add del mod">
          <ac:chgData name="Mauricio Nolazco" userId="8e064c700b586176" providerId="LiveId" clId="{48E4426C-FD85-428B-8823-6908DB42E28D}" dt="2026-09-24T17:59:13.324" v="535" actId="478"/>
          <ac:picMkLst>
            <pc:docMk/>
            <pc:sldMk cId="0" sldId="265"/>
            <ac:picMk id="5" creationId="{7A2D7069-30B0-18D3-FB1E-4780F2CCC048}"/>
          </ac:picMkLst>
        </pc:picChg>
        <pc:picChg chg="add mod">
          <ac:chgData name="Mauricio Nolazco" userId="8e064c700b586176" providerId="LiveId" clId="{48E4426C-FD85-428B-8823-6908DB42E28D}" dt="2026-09-24T17:59:25.207" v="540" actId="1440"/>
          <ac:picMkLst>
            <pc:docMk/>
            <pc:sldMk cId="0" sldId="265"/>
            <ac:picMk id="6" creationId="{36A8CCAE-5579-F967-0E3A-F4E67DF59B52}"/>
          </ac:picMkLst>
        </pc:picChg>
        <pc:picChg chg="add mod modCrop">
          <ac:chgData name="Mauricio Nolazco" userId="8e064c700b586176" providerId="LiveId" clId="{48E4426C-FD85-428B-8823-6908DB42E28D}" dt="2026-09-24T18:20:22.774" v="553" actId="1076"/>
          <ac:picMkLst>
            <pc:docMk/>
            <pc:sldMk cId="0" sldId="265"/>
            <ac:picMk id="7" creationId="{99B6C722-A896-D03E-68C6-FD926DB1CA26}"/>
          </ac:picMkLst>
        </pc:picChg>
        <pc:picChg chg="mod modCrop">
          <ac:chgData name="Mauricio Nolazco" userId="8e064c700b586176" providerId="LiveId" clId="{48E4426C-FD85-428B-8823-6908DB42E28D}" dt="2026-09-24T18:20:10.800" v="548" actId="732"/>
          <ac:picMkLst>
            <pc:docMk/>
            <pc:sldMk cId="0" sldId="265"/>
            <ac:picMk id="171" creationId="{00000000-0000-0000-0000-000000000000}"/>
          </ac:picMkLst>
        </pc:picChg>
      </pc:sldChg>
      <pc:sldChg chg="modSp mod">
        <pc:chgData name="Mauricio Nolazco" userId="8e064c700b586176" providerId="LiveId" clId="{48E4426C-FD85-428B-8823-6908DB42E28D}" dt="2026-09-24T17:35:59.409" v="504" actId="20577"/>
        <pc:sldMkLst>
          <pc:docMk/>
          <pc:sldMk cId="0" sldId="268"/>
        </pc:sldMkLst>
        <pc:spChg chg="mod">
          <ac:chgData name="Mauricio Nolazco" userId="8e064c700b586176" providerId="LiveId" clId="{48E4426C-FD85-428B-8823-6908DB42E28D}" dt="2026-09-24T17:35:59.409" v="504" actId="20577"/>
          <ac:spMkLst>
            <pc:docMk/>
            <pc:sldMk cId="0" sldId="268"/>
            <ac:spMk id="215" creationId="{00000000-0000-0000-0000-000000000000}"/>
          </ac:spMkLst>
        </pc:spChg>
      </pc:sldChg>
      <pc:sldChg chg="modSp mod">
        <pc:chgData name="Mauricio Nolazco" userId="8e064c700b586176" providerId="LiveId" clId="{48E4426C-FD85-428B-8823-6908DB42E28D}" dt="2026-09-24T17:34:39.450" v="0" actId="20577"/>
        <pc:sldMkLst>
          <pc:docMk/>
          <pc:sldMk cId="0" sldId="270"/>
        </pc:sldMkLst>
        <pc:spChg chg="mod">
          <ac:chgData name="Mauricio Nolazco" userId="8e064c700b586176" providerId="LiveId" clId="{48E4426C-FD85-428B-8823-6908DB42E28D}" dt="2026-09-24T17:34:39.450" v="0" actId="20577"/>
          <ac:spMkLst>
            <pc:docMk/>
            <pc:sldMk cId="0" sldId="270"/>
            <ac:spMk id="23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2" name="Google Shape;13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7" name="Google Shape;18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5" name="Google Shape;1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2" name="Google Shape;21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0" name="Google Shape;2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ó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300192" y="6100724"/>
            <a:ext cx="262952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23528" y="1576409"/>
            <a:ext cx="8606189" cy="43704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Carrera: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Ingeniería en Sistemas Computacionales</a:t>
            </a:r>
          </a:p>
          <a:p>
            <a:pPr algn="ctr">
              <a:spcAft>
                <a:spcPts val="1200"/>
              </a:spcAft>
            </a:pPr>
            <a:r>
              <a:rPr sz="2100" b="1" i="0">
                <a:solidFill>
                  <a:srgbClr val="76923C"/>
                </a:solidFill>
                <a:latin typeface="Arial"/>
              </a:rPr>
              <a:t>“Sistema de Inventario y Mapeo Lógico de Redes GPON / FTTx”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Presenta:</a:t>
            </a: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Mauricio Nolazco Lonjino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Asesor Interno:</a:t>
            </a:r>
          </a:p>
          <a:p>
            <a:pPr algn="ctr"/>
            <a:r>
              <a:rPr sz="1900" b="1" i="0">
                <a:solidFill>
                  <a:srgbClr val="000000"/>
                </a:solidFill>
                <a:latin typeface="Arial"/>
              </a:rPr>
              <a:t>I.S.C. Leonardo Becerril Sánchez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1043608" y="764704"/>
            <a:ext cx="6714569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  <a:latin typeface="Calibri"/>
              </a:rPr>
              <a:t>UNIVERSIDAD MEXIQUENSE DEL BICENTENARIO
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UNIDAD DE ESTUDIOS SUPERIORES SAN JOSÉ DEL RINCÓN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/>
          <p:nvPr/>
        </p:nvSpPr>
        <p:spPr>
          <a:xfrm>
            <a:off x="6918564" y="13648"/>
            <a:ext cx="221868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Agenda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914400" y="1005840"/>
            <a:ext cx="7498079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1. Empresa (Ubicación Geográfica y Organigrama)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2. Introducción al Proyecto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3. Planteamiento del Problema y Pregunta Generadora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4. Justificación Técnica y Operativa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5. Objetivos del Proyecto (General y Específicos)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6. Herramientas Tecnológicas (Stack de Software)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7. Evidencias de Avance Técnico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8. Cronograma de Actividades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9. Conclusiones Preliminares (Avance)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10. Bibliografía y Referencias</a:t>
            </a:r>
          </a:p>
        </p:txBody>
      </p:sp>
      <p:sp>
        <p:nvSpPr>
          <p:cNvPr id="101" name="Google Shape;101;p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2/15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>
            <a:spLocks noGrp="1"/>
          </p:cNvSpPr>
          <p:nvPr>
            <p:ph type="body" idx="1"/>
          </p:nvPr>
        </p:nvSpPr>
        <p:spPr>
          <a:xfrm>
            <a:off x="731520" y="1005840"/>
            <a:ext cx="7680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GPON TELECOM S.A. de C.V.: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Empresa proveedora de servicios de telecomunicaciones e Internet de alta velocidad mediante fibra óptica (ISP regional).
</a:t>
            </a:r>
            <a:r>
              <a:rPr sz="1500" b="1" i="0">
                <a:solidFill>
                  <a:srgbClr val="000000"/>
                </a:solidFill>
                <a:latin typeface="Arial"/>
              </a:rPr>
              <a:t>• Ubicación Geográfica: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Sede operativa y nodo central (NOC) en San José del Rincón, Estado de México, abasteciendo conectividad GPON/FTTx urbana y rural.</a:t>
            </a:r>
            <a:endParaRPr/>
          </a:p>
        </p:txBody>
      </p:sp>
      <p:pic>
        <p:nvPicPr>
          <p:cNvPr id="107" name="Google Shape;10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/>
          <p:nvPr/>
        </p:nvSpPr>
        <p:spPr>
          <a:xfrm>
            <a:off x="5922512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3/15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 t="16890" r="2446"/>
          <a:stretch/>
        </p:blipFill>
        <p:spPr>
          <a:xfrm>
            <a:off x="1645920" y="2560320"/>
            <a:ext cx="5029200" cy="224028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" name="Google Shape;111;p3"/>
          <p:cNvSpPr txBox="1"/>
          <p:nvPr/>
        </p:nvSpPr>
        <p:spPr>
          <a:xfrm>
            <a:off x="731520" y="4892040"/>
            <a:ext cx="768096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1. Localización geográfica de la empresa GPON TELECOM S.A. de C.V.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/>
          <p:nvPr/>
        </p:nvSpPr>
        <p:spPr>
          <a:xfrm>
            <a:off x="5922509" y="25758"/>
            <a:ext cx="2965364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4/15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1097280" y="914400"/>
            <a:ext cx="62179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731520" y="4956048"/>
            <a:ext cx="76809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2. Organigrama de la empresa GPON TELECOM S.A. de C.V.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5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Propósito General: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Desarrollo de una plataforma web para el inventario centralizado y mapeo lógico de la red de fibra óptica GPON/FTTx en GPON TELECOM S.A. de C.V.</a:t>
            </a:r>
            <a:endParaRPr sz="2400" b="0" i="0" u="none" strike="noStrike" cap="non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Problemática Atendida: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Reemplazar la gestión manual y desarticulada en campo, previniendo la colisión de puertos y la saturación imprevista en cajas NAP.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Arquitectura Desacoplada: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Integración de visor cartográfico geoespacial (React 18 + Leaflet), backend seguro (Node.js + Express) y base de datos relacional (PostgreSQL 16).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Modelo Offline-First (IndexedDB con Dexie.js) que faculta a los técnicos para continuar registrando operaciones en zonas sin cobertura móvil.</a:t>
            </a:r>
          </a:p>
        </p:txBody>
      </p:sp>
      <p:sp>
        <p:nvSpPr>
          <p:cNvPr id="128" name="Google Shape;128;p5"/>
          <p:cNvSpPr/>
          <p:nvPr/>
        </p:nvSpPr>
        <p:spPr>
          <a:xfrm>
            <a:off x="5666381" y="25758"/>
            <a:ext cx="3477619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Introducción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5/15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Carencia de Inventario Centralizado: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Falta de control físico y lógico de splitters, cajas NAP y puertos SC-APC, provocando retrasos en la atención de nuevas altas.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Colisión por Asignación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La asignación simultánea y manual de puertos por diferentes técnicos genera conflictos de servicio y saturación invisible para el NOC.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Aislamiento en Campo: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Pérdida de conectividad celular en cuadrillas rurales, imposibilitando la consulta o actualización de la red en tiempo real.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 b="1" i="0">
                <a:solidFill>
                  <a:srgbClr val="76923C"/>
                </a:solidFill>
                <a:latin typeface="Arial"/>
              </a:rPr>
              <a:t>Pregunta Generadora:
</a:t>
            </a:r>
            <a:r>
              <a:rPr sz="1450" b="1" i="1">
                <a:solidFill>
                  <a:srgbClr val="000000"/>
                </a:solidFill>
                <a:latin typeface="Arial"/>
              </a:rPr>
              <a:t>“¿Es viable optimizar la gestión de inventario y la trazabilidad técnica de la red GPON/FTTx mediante una plataforma web georreferenciada con arquitectura Offline-First?”
</a:t>
            </a:r>
            <a:r>
              <a:rPr sz="1700" b="1" i="0">
                <a:solidFill>
                  <a:srgbClr val="76923C"/>
                </a:solidFill>
                <a:latin typeface="Arial"/>
              </a:rPr>
              <a:t>Respuesta: Sí.</a:t>
            </a:r>
          </a:p>
        </p:txBody>
      </p:sp>
      <p:sp>
        <p:nvSpPr>
          <p:cNvPr id="136" name="Google Shape;136;p6"/>
          <p:cNvSpPr/>
          <p:nvPr/>
        </p:nvSpPr>
        <p:spPr>
          <a:xfrm>
            <a:off x="1966436" y="0"/>
            <a:ext cx="716221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Planteamiento del problema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6/15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5909948" y="0"/>
            <a:ext cx="3213508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Justificación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7/15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Eficiencia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Automatiza la asignación y liberación de puertos SC-APC, reduciendo el tiempo de atención técnica de 45 a 15 minutos por suscriptor.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Trazabilidad Geoespacial: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Faculta al personal de soporte y NOC para visualizar la red mediante cartografía satelital y semáforos de saturación en tiempo real.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en Terreno: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El esquema Offline-First con IndexedDB garantiza continuidad operativa en zonas sin cobertura, sincronizando datos al reconectar.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Reducción de Costos: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Disminuye en un 80% los traslados técnicos fallidos por saturación de cajas NAP y protege la inversión en infraestructura pasiva.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6923C"/>
                </a:solidFill>
                <a:latin typeface="Arial"/>
              </a:rPr>
              <a:t>Objetivo General:</a:t>
            </a: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000000"/>
                </a:solidFill>
                <a:latin typeface="Arial"/>
              </a:rPr>
              <a:t>Desarrollar e implementar un sistema web para el inventario y mapeo lógico de la infraestructura de red GPON/FTTx de la empresa GPON TELECOM S.A. de C.V., mediante arquitectura cliente-servidor, bases de datos relacionales y visualización geoespacial, optimizando la asignación de puertos y la trazabilidad técnica en campo.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Alcance de Dominio: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Control pasivo integral desde el ODF central hasta cajas NAP terminales de 16 puertos.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Concurrencia Robusta: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Bloqueo pesimista de registros para garantizar consistencia transaccional ACID.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Disponibilidad Móvil: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Sincronización diferida y operación continua en cuadrillas técnicas de campo.</a:t>
            </a:r>
          </a:p>
        </p:txBody>
      </p:sp>
      <p:sp>
        <p:nvSpPr>
          <p:cNvPr id="152" name="Google Shape;152;p8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8/15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76923C"/>
                </a:solidFill>
                <a:latin typeface="Arial"/>
              </a:rPr>
              <a:t>Objetivos Específicos: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1. Levantamiento e Infraestructura: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Caracterizar la red GPON pasiva (ODF, splitters PLC 1:4 y 1:16, cajas NAP y acometidas de fibra).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2. Modelado de Datos y Arquitectura: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Diseñar la base de datos relacional y los diagramas estructurales (DER notación Chen, casos de uso y secuencia UML).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3. Cartografía Web Responsiva: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Maquetar e implementar interfaces de usuario optimizadas para móviles con mapas satelitales en React Leaflet.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4. Backend Transaccional: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Programar la API REST en Node.js/PostgreSQL con bloqueo pesimista (SELECT ... FOR UPDATE) y autenticación JWT.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5. Motor Offline-First: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Desarrollar persistencia local en Dexie.js (IndexedDB) para sincronización automática de operaciones en campo.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6. Validación y Reportes: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Ejecutar pruebas de consistencia concurrente, contrastes WCAG 2.1 y generación de reportes técnicos PDF.</a:t>
            </a:r>
          </a:p>
        </p:txBody>
      </p:sp>
      <p:sp>
        <p:nvSpPr>
          <p:cNvPr id="160" name="Google Shape;160;p9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9/15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0"/>
          <p:cNvSpPr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450" b="1" i="0">
                <a:solidFill>
                  <a:srgbClr val="000000"/>
                </a:solidFill>
                <a:latin typeface="Arial"/>
              </a:rPr>
              <a:t>Para el desarrollo de la plataforma web se seleccionó un stack tecnológico desacoplado y orientado a resiliencia: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540128" y="0"/>
            <a:ext cx="3603872" cy="83099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Herramientas</a:t>
            </a:r>
            <a:endParaRPr sz="3500" b="0" i="0" u="none" strike="noStrike" cap="non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10/15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Picture 170" descr="fig_herramientas_gpon.png"/>
          <p:cNvPicPr>
            <a:picLocks noChangeAspect="1"/>
          </p:cNvPicPr>
          <p:nvPr/>
        </p:nvPicPr>
        <p:blipFill>
          <a:blip r:embed="rId4"/>
          <a:srcRect l="25818"/>
          <a:stretch>
            <a:fillRect/>
          </a:stretch>
        </p:blipFill>
        <p:spPr>
          <a:xfrm>
            <a:off x="2714624" y="1600200"/>
            <a:ext cx="5697855" cy="2304288"/>
          </a:xfrm>
          <a:prstGeom prst="rect">
            <a:avLst/>
          </a:prstGeom>
        </p:spPr>
      </p:pic>
      <p:pic>
        <p:nvPicPr>
          <p:cNvPr id="2" name="Imagen 1" descr="Tag: Leaflet">
            <a:extLst>
              <a:ext uri="{FF2B5EF4-FFF2-40B4-BE49-F238E27FC236}">
                <a16:creationId xmlns:a16="http://schemas.microsoft.com/office/drawing/2014/main" id="{78F6BCC0-3617-36B2-93C5-14655A9D9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6" y="1657492"/>
            <a:ext cx="1440000" cy="9648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Imagen 2" descr="How to Build Large Scale React Apps">
            <a:extLst>
              <a:ext uri="{FF2B5EF4-FFF2-40B4-BE49-F238E27FC236}">
                <a16:creationId xmlns:a16="http://schemas.microsoft.com/office/drawing/2014/main" id="{4D5B106B-C4A7-E920-E501-8B97A4ECB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3873" y="3940260"/>
            <a:ext cx="1440000" cy="144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Imagen 3" descr="Tailwind Css">
            <a:extLst>
              <a:ext uri="{FF2B5EF4-FFF2-40B4-BE49-F238E27FC236}">
                <a16:creationId xmlns:a16="http://schemas.microsoft.com/office/drawing/2014/main" id="{113E8C31-745F-E560-9EB3-5C6C9391D8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926" y="4381399"/>
            <a:ext cx="1440000" cy="8606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Imagen 5" descr="How to Install React Using Vite - Ty's Web Development Training Blog">
            <a:extLst>
              <a:ext uri="{FF2B5EF4-FFF2-40B4-BE49-F238E27FC236}">
                <a16:creationId xmlns:a16="http://schemas.microsoft.com/office/drawing/2014/main" id="{36A8CCAE-5579-F967-0E3A-F4E67DF59B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8256" y="3904488"/>
            <a:ext cx="1440000" cy="14189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 descr="dexie-logger | Dexie logger middleware">
            <a:extLst>
              <a:ext uri="{FF2B5EF4-FFF2-40B4-BE49-F238E27FC236}">
                <a16:creationId xmlns:a16="http://schemas.microsoft.com/office/drawing/2014/main" id="{99B6C722-A896-D03E-68C6-FD926DB1CA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9601" r="26081"/>
          <a:stretch>
            <a:fillRect/>
          </a:stretch>
        </p:blipFill>
        <p:spPr>
          <a:xfrm>
            <a:off x="903926" y="2809631"/>
            <a:ext cx="1440000" cy="138442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/>
          <p:nvPr/>
        </p:nvSpPr>
        <p:spPr>
          <a:xfrm>
            <a:off x="6242756" y="-6200"/>
            <a:ext cx="2901219" cy="83095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Evidencias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11/15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1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76923C"/>
                </a:solidFill>
                <a:latin typeface="Arial"/>
              </a:rPr>
              <a:t>Principales entregables y componentes técnicos implementados: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Documentación Técnica Formal: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Memoria de residencia completa con 66 figuras estandarizadas en blanco y negro, especificación de requerimientos y diagrama de flujo global ANSI/ISO.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Mapeo Cartográfico GIS Interactivo: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Prototipo funcional en React Leaflet con polilíneas de fibra, trazado de rutas, semáforo de saturación en cajas NAP y calibración satelital GPS.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Matriz de Puertos y Bloqueo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Chasis interactivo de 16 puertos SC-APC con resolución de colisiones mediante transacciones pesimistas (SELECT ... FOR UPDATE) en PostgreSQL.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Repositorio de Código y Motor Offline: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Base de código estructurada en TypeScript, modelos Sequelize y base de datos local Dexie.js (IndexedDB) para operación continua en campo.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065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2"/>
          <p:cNvSpPr/>
          <p:nvPr/>
        </p:nvSpPr>
        <p:spPr>
          <a:xfrm>
            <a:off x="5712179" y="0"/>
            <a:ext cx="3431822" cy="83095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Cronograma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12/15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5528" y="960120"/>
            <a:ext cx="676656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2"/>
          <p:cNvSpPr txBox="1"/>
          <p:nvPr/>
        </p:nvSpPr>
        <p:spPr>
          <a:xfrm>
            <a:off x="731520" y="4919472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1350" b="0" i="0">
                <a:solidFill>
                  <a:srgbClr val="505050"/>
                </a:solidFill>
                <a:latin typeface="Calibri"/>
              </a:rPr>
              <a:t>Figura 4. Cronograma de actividades del proyecto de residencia profesional (Corte al 20 de septiembre de 2026).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3"/>
          <p:cNvSpPr txBox="1"/>
          <p:nvPr/>
        </p:nvSpPr>
        <p:spPr>
          <a:xfrm>
            <a:off x="731520" y="1005840"/>
            <a:ext cx="7680960" cy="5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lang="es-MX" b="1" dirty="0"/>
              <a:t>Con base al cronograma de actividades se ha llegado al avance de un 40% siendo un gran avance con tiempo y forma.</a:t>
            </a:r>
            <a:endParaRPr sz="14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Conclusiones Preliminares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13/15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7"/>
          <p:cNvSpPr txBox="1"/>
          <p:nvPr/>
        </p:nvSpPr>
        <p:spPr>
          <a:xfrm>
            <a:off x="731520" y="105156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International Telecommunication Union. (2003). Recomendación ITU-T G.984.1 / G.984.2: Redes ópticas pasivas con capacidad de gigabit (GPON). Ginebra: ITU.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Tanenbaum, A. S., &amp; Wetherall, D. J. (2014). Redes de computadoras (5.ª ed.). Ciudad de México: Pearson Educación.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Silberschatz, A., Korth, H. F., &amp; Sudarshan, S. (2019). Database System Concepts (7th ed.). Nueva York: McGraw-Hill.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World Wide Web Consortium (W3C). (2018). Web Content Accessibility Guidelines (WCAG) 2.1. W3C Recommendation. https://www.w3.org/TR/WCAG21/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PostgreSQL Global Development Group. (2024). PostgreSQL 16.0 Documentation: Explicit Locking and Transaction Isolation. https://www.postgresql.org/docs/16/</a:t>
            </a:r>
          </a:p>
        </p:txBody>
      </p:sp>
      <p:sp>
        <p:nvSpPr>
          <p:cNvPr id="224" name="Google Shape;224;p27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Bibliografía y Referencias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14/15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4" descr="Logo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14" descr="sanjos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4"/>
          <p:cNvSpPr txBox="1"/>
          <p:nvPr/>
        </p:nvSpPr>
        <p:spPr>
          <a:xfrm>
            <a:off x="6500826" y="6100724"/>
            <a:ext cx="242889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1371600" y="1645920"/>
            <a:ext cx="557784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5600" b="0" i="0">
                <a:solidFill>
                  <a:srgbClr val="76923C"/>
                </a:solidFill>
                <a:latin typeface="Calibri"/>
              </a:rPr>
              <a:t>¡Muchas Gracias!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7692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15/15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914400" y="2834640"/>
            <a:ext cx="6492240" cy="138495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sz="4200" b="0" i="0" dirty="0">
                <a:solidFill>
                  <a:srgbClr val="76923C"/>
                </a:solidFill>
                <a:latin typeface="Calibri"/>
              </a:rPr>
              <a:t>¿</a:t>
            </a:r>
            <a:r>
              <a:rPr sz="4200" b="0" i="0" dirty="0" err="1">
                <a:solidFill>
                  <a:srgbClr val="76923C"/>
                </a:solidFill>
                <a:latin typeface="Calibri"/>
              </a:rPr>
              <a:t>Preguntas</a:t>
            </a:r>
            <a:r>
              <a:rPr sz="4200" b="0" i="0" dirty="0">
                <a:solidFill>
                  <a:srgbClr val="76923C"/>
                </a:solidFill>
                <a:latin typeface="Calibri"/>
              </a:rPr>
              <a:t> o </a:t>
            </a:r>
            <a:r>
              <a:rPr sz="4200" b="0" i="0" dirty="0" err="1">
                <a:solidFill>
                  <a:srgbClr val="76923C"/>
                </a:solidFill>
                <a:latin typeface="Calibri"/>
              </a:rPr>
              <a:t>Comentarios</a:t>
            </a:r>
            <a:r>
              <a:rPr sz="4200" b="0" i="0" dirty="0">
                <a:solidFill>
                  <a:srgbClr val="76923C"/>
                </a:solidFill>
                <a:latin typeface="Calibri"/>
              </a:rPr>
              <a:t>?
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1232</Words>
  <Application>Microsoft Office PowerPoint</Application>
  <PresentationFormat>Presentación en pantalla (4:3)</PresentationFormat>
  <Paragraphs>89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Tahoma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luid</dc:creator>
  <cp:lastModifiedBy>Mauricio Nolazco</cp:lastModifiedBy>
  <cp:revision>1</cp:revision>
  <dcterms:created xsi:type="dcterms:W3CDTF">2002-01-26T11:17:21Z</dcterms:created>
  <dcterms:modified xsi:type="dcterms:W3CDTF">2026-09-24T18:20:34Z</dcterms:modified>
</cp:coreProperties>
</file>