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embeddedFontLst>
    <p:embeddedFont>
      <p:font typeface="Tahoma" panose="020B060403050404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7FBBA1-13ED-40CA-B0BB-281C67096509}" v="5" dt="2026-10-01T17:54:58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-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Nolazco" userId="8e064c700b586176" providerId="LiveId" clId="{48E4426C-FD85-428B-8823-6908DB42E28D}"/>
    <pc:docChg chg="undo custSel delSld modSld">
      <pc:chgData name="Mauricio Nolazco" userId="8e064c700b586176" providerId="LiveId" clId="{48E4426C-FD85-428B-8823-6908DB42E28D}" dt="2026-10-01T18:33:38.605" v="816" actId="20577"/>
      <pc:docMkLst>
        <pc:docMk/>
      </pc:docMkLst>
      <pc:sldChg chg="modSp mod">
        <pc:chgData name="Mauricio Nolazco" userId="8e064c700b586176" providerId="LiveId" clId="{48E4426C-FD85-428B-8823-6908DB42E28D}" dt="2026-10-01T17:48:24.758" v="608" actId="207"/>
        <pc:sldMkLst>
          <pc:docMk/>
          <pc:sldMk cId="0" sldId="256"/>
        </pc:sldMkLst>
        <pc:spChg chg="mod">
          <ac:chgData name="Mauricio Nolazco" userId="8e064c700b586176" providerId="LiveId" clId="{48E4426C-FD85-428B-8823-6908DB42E28D}" dt="2026-10-01T17:48:24.758" v="608" actId="207"/>
          <ac:spMkLst>
            <pc:docMk/>
            <pc:sldMk cId="0" sldId="256"/>
            <ac:spMk id="91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8:20.652" v="607" actId="1076"/>
          <ac:spMkLst>
            <pc:docMk/>
            <pc:sldMk cId="0" sldId="256"/>
            <ac:spMk id="92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6"/>
            <ac:spMk id="93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7:43:39.566" v="572" actId="790"/>
        <pc:sldMkLst>
          <pc:docMk/>
          <pc:sldMk cId="0" sldId="257"/>
        </pc:sldMkLst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7"/>
            <ac:spMk id="99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7"/>
            <ac:spMk id="101" creationId="{00000000-0000-0000-0000-000000000000}"/>
          </ac:spMkLst>
        </pc:spChg>
      </pc:sldChg>
      <pc:sldChg chg="delSp modSp mod">
        <pc:chgData name="Mauricio Nolazco" userId="8e064c700b586176" providerId="LiveId" clId="{48E4426C-FD85-428B-8823-6908DB42E28D}" dt="2026-10-01T18:26:29.119" v="730" actId="20577"/>
        <pc:sldMkLst>
          <pc:docMk/>
          <pc:sldMk cId="0" sldId="258"/>
        </pc:sldMkLst>
        <pc:spChg chg="mod">
          <ac:chgData name="Mauricio Nolazco" userId="8e064c700b586176" providerId="LiveId" clId="{48E4426C-FD85-428B-8823-6908DB42E28D}" dt="2026-10-01T18:26:29.119" v="730" actId="20577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8"/>
            <ac:spMk id="108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8"/>
            <ac:spMk id="109" creationId="{00000000-0000-0000-0000-000000000000}"/>
          </ac:spMkLst>
        </pc:spChg>
        <pc:spChg chg="del mod">
          <ac:chgData name="Mauricio Nolazco" userId="8e064c700b586176" providerId="LiveId" clId="{48E4426C-FD85-428B-8823-6908DB42E28D}" dt="2026-10-01T17:48:08.823" v="605" actId="478"/>
          <ac:spMkLst>
            <pc:docMk/>
            <pc:sldMk cId="0" sldId="258"/>
            <ac:spMk id="111" creationId="{00000000-0000-0000-0000-000000000000}"/>
          </ac:spMkLst>
        </pc:spChg>
      </pc:sldChg>
      <pc:sldChg chg="delSp modSp mod">
        <pc:chgData name="Mauricio Nolazco" userId="8e064c700b586176" providerId="LiveId" clId="{48E4426C-FD85-428B-8823-6908DB42E28D}" dt="2026-10-01T17:48:33.691" v="609" actId="478"/>
        <pc:sldMkLst>
          <pc:docMk/>
          <pc:sldMk cId="0" sldId="259"/>
        </pc:sldMkLst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9"/>
            <ac:spMk id="117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59"/>
            <ac:spMk id="118" creationId="{00000000-0000-0000-0000-000000000000}"/>
          </ac:spMkLst>
        </pc:spChg>
        <pc:spChg chg="del mod">
          <ac:chgData name="Mauricio Nolazco" userId="8e064c700b586176" providerId="LiveId" clId="{48E4426C-FD85-428B-8823-6908DB42E28D}" dt="2026-10-01T17:48:33.691" v="609" actId="478"/>
          <ac:spMkLst>
            <pc:docMk/>
            <pc:sldMk cId="0" sldId="259"/>
            <ac:spMk id="121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8:26:41.461" v="732" actId="20577"/>
        <pc:sldMkLst>
          <pc:docMk/>
          <pc:sldMk cId="0" sldId="260"/>
        </pc:sldMkLst>
        <pc:spChg chg="mod">
          <ac:chgData name="Mauricio Nolazco" userId="8e064c700b586176" providerId="LiveId" clId="{48E4426C-FD85-428B-8823-6908DB42E28D}" dt="2026-10-01T18:26:41.461" v="732" actId="20577"/>
          <ac:spMkLst>
            <pc:docMk/>
            <pc:sldMk cId="0" sldId="260"/>
            <ac:spMk id="127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0"/>
            <ac:spMk id="128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0"/>
            <ac:spMk id="129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8:27:22.506" v="767" actId="20577"/>
        <pc:sldMkLst>
          <pc:docMk/>
          <pc:sldMk cId="0" sldId="261"/>
        </pc:sldMkLst>
        <pc:spChg chg="mod">
          <ac:chgData name="Mauricio Nolazco" userId="8e064c700b586176" providerId="LiveId" clId="{48E4426C-FD85-428B-8823-6908DB42E28D}" dt="2026-10-01T18:27:22.506" v="767" actId="20577"/>
          <ac:spMkLst>
            <pc:docMk/>
            <pc:sldMk cId="0" sldId="261"/>
            <ac:spMk id="135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1"/>
            <ac:spMk id="136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1"/>
            <ac:spMk id="137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8:33:38.605" v="816" actId="20577"/>
        <pc:sldMkLst>
          <pc:docMk/>
          <pc:sldMk cId="0" sldId="262"/>
        </pc:sldMkLst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2"/>
            <ac:spMk id="143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2"/>
            <ac:spMk id="144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8:33:38.605" v="816" actId="20577"/>
          <ac:spMkLst>
            <pc:docMk/>
            <pc:sldMk cId="0" sldId="262"/>
            <ac:spMk id="145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7:49:31.738" v="610" actId="255"/>
        <pc:sldMkLst>
          <pc:docMk/>
          <pc:sldMk cId="0" sldId="263"/>
        </pc:sldMkLst>
        <pc:spChg chg="mod">
          <ac:chgData name="Mauricio Nolazco" userId="8e064c700b586176" providerId="LiveId" clId="{48E4426C-FD85-428B-8823-6908DB42E28D}" dt="2026-10-01T17:49:31.738" v="610" actId="255"/>
          <ac:spMkLst>
            <pc:docMk/>
            <pc:sldMk cId="0" sldId="263"/>
            <ac:spMk id="151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3"/>
            <ac:spMk id="152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3"/>
            <ac:spMk id="153" creationId="{00000000-0000-0000-0000-000000000000}"/>
          </ac:spMkLst>
        </pc:spChg>
      </pc:sldChg>
      <pc:sldChg chg="addSp delSp modSp mod">
        <pc:chgData name="Mauricio Nolazco" userId="8e064c700b586176" providerId="LiveId" clId="{48E4426C-FD85-428B-8823-6908DB42E28D}" dt="2026-10-01T17:57:59.757" v="705" actId="1076"/>
        <pc:sldMkLst>
          <pc:docMk/>
          <pc:sldMk cId="0" sldId="264"/>
        </pc:sldMkLst>
        <pc:spChg chg="add mod">
          <ac:chgData name="Mauricio Nolazco" userId="8e064c700b586176" providerId="LiveId" clId="{48E4426C-FD85-428B-8823-6908DB42E28D}" dt="2026-10-01T17:57:59.757" v="705" actId="1076"/>
          <ac:spMkLst>
            <pc:docMk/>
            <pc:sldMk cId="0" sldId="264"/>
            <ac:spMk id="2" creationId="{A749F498-D431-C86C-B805-9F6D5C9B938B}"/>
          </ac:spMkLst>
        </pc:spChg>
        <pc:spChg chg="add mod">
          <ac:chgData name="Mauricio Nolazco" userId="8e064c700b586176" providerId="LiveId" clId="{48E4426C-FD85-428B-8823-6908DB42E28D}" dt="2026-10-01T17:57:07.556" v="691" actId="1076"/>
          <ac:spMkLst>
            <pc:docMk/>
            <pc:sldMk cId="0" sldId="264"/>
            <ac:spMk id="3" creationId="{F4C40722-6710-9592-D786-497A053D4FC2}"/>
          </ac:spMkLst>
        </pc:spChg>
        <pc:spChg chg="add del mod">
          <ac:chgData name="Mauricio Nolazco" userId="8e064c700b586176" providerId="LiveId" clId="{48E4426C-FD85-428B-8823-6908DB42E28D}" dt="2026-10-01T17:54:51.262" v="654"/>
          <ac:spMkLst>
            <pc:docMk/>
            <pc:sldMk cId="0" sldId="264"/>
            <ac:spMk id="4" creationId="{EC40249D-1474-D09B-B331-85E905BB84D6}"/>
          </ac:spMkLst>
        </pc:spChg>
        <pc:spChg chg="add mod">
          <ac:chgData name="Mauricio Nolazco" userId="8e064c700b586176" providerId="LiveId" clId="{48E4426C-FD85-428B-8823-6908DB42E28D}" dt="2026-10-01T17:57:51.867" v="703" actId="1076"/>
          <ac:spMkLst>
            <pc:docMk/>
            <pc:sldMk cId="0" sldId="264"/>
            <ac:spMk id="5" creationId="{8ED9B067-6DFA-C3BC-FA82-AC8BDFF41E33}"/>
          </ac:spMkLst>
        </pc:spChg>
        <pc:spChg chg="mod">
          <ac:chgData name="Mauricio Nolazco" userId="8e064c700b586176" providerId="LiveId" clId="{48E4426C-FD85-428B-8823-6908DB42E28D}" dt="2026-10-01T17:50:34.345" v="616" actId="207"/>
          <ac:spMkLst>
            <pc:docMk/>
            <pc:sldMk cId="0" sldId="264"/>
            <ac:spMk id="160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4"/>
            <ac:spMk id="161" creationId="{00000000-0000-0000-0000-000000000000}"/>
          </ac:spMkLst>
        </pc:spChg>
        <pc:spChg chg="del mod">
          <ac:chgData name="Mauricio Nolazco" userId="8e064c700b586176" providerId="LiveId" clId="{48E4426C-FD85-428B-8823-6908DB42E28D}" dt="2026-10-01T17:50:38.053" v="617" actId="478"/>
          <ac:spMkLst>
            <pc:docMk/>
            <pc:sldMk cId="0" sldId="264"/>
            <ac:spMk id="162" creationId="{00000000-0000-0000-0000-000000000000}"/>
          </ac:spMkLst>
        </pc:spChg>
        <pc:picChg chg="add mod modCrop">
          <ac:chgData name="Mauricio Nolazco" userId="8e064c700b586176" providerId="LiveId" clId="{48E4426C-FD85-428B-8823-6908DB42E28D}" dt="2026-10-01T17:57:53.540" v="704" actId="1076"/>
          <ac:picMkLst>
            <pc:docMk/>
            <pc:sldMk cId="0" sldId="264"/>
            <ac:picMk id="6" creationId="{EA1A0C59-E598-1339-5263-2944F0B67279}"/>
          </ac:picMkLst>
        </pc:picChg>
        <pc:picChg chg="del mod">
          <ac:chgData name="Mauricio Nolazco" userId="8e064c700b586176" providerId="LiveId" clId="{48E4426C-FD85-428B-8823-6908DB42E28D}" dt="2026-10-01T17:55:37.271" v="676" actId="478"/>
          <ac:picMkLst>
            <pc:docMk/>
            <pc:sldMk cId="0" sldId="264"/>
            <ac:picMk id="163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6:42.564" v="686" actId="1076"/>
          <ac:picMkLst>
            <pc:docMk/>
            <pc:sldMk cId="0" sldId="264"/>
            <ac:picMk id="164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7:19.834" v="695" actId="1076"/>
          <ac:picMkLst>
            <pc:docMk/>
            <pc:sldMk cId="0" sldId="264"/>
            <ac:picMk id="165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6:52.376" v="689" actId="1076"/>
          <ac:picMkLst>
            <pc:docMk/>
            <pc:sldMk cId="0" sldId="264"/>
            <ac:picMk id="166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6:49.418" v="688" actId="1076"/>
          <ac:picMkLst>
            <pc:docMk/>
            <pc:sldMk cId="0" sldId="264"/>
            <ac:picMk id="167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6:47.083" v="687" actId="1076"/>
          <ac:picMkLst>
            <pc:docMk/>
            <pc:sldMk cId="0" sldId="264"/>
            <ac:picMk id="168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7:15.629" v="694" actId="1076"/>
          <ac:picMkLst>
            <pc:docMk/>
            <pc:sldMk cId="0" sldId="264"/>
            <ac:picMk id="169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7:25.535" v="697" actId="1076"/>
          <ac:picMkLst>
            <pc:docMk/>
            <pc:sldMk cId="0" sldId="264"/>
            <ac:picMk id="170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7:33.156" v="699" actId="1076"/>
          <ac:picMkLst>
            <pc:docMk/>
            <pc:sldMk cId="0" sldId="264"/>
            <ac:picMk id="171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7:13.680" v="693" actId="1076"/>
          <ac:picMkLst>
            <pc:docMk/>
            <pc:sldMk cId="0" sldId="264"/>
            <ac:picMk id="172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7:22.300" v="696" actId="1076"/>
          <ac:picMkLst>
            <pc:docMk/>
            <pc:sldMk cId="0" sldId="264"/>
            <ac:picMk id="173" creationId="{00000000-0000-0000-0000-000000000000}"/>
          </ac:picMkLst>
        </pc:picChg>
        <pc:picChg chg="mod">
          <ac:chgData name="Mauricio Nolazco" userId="8e064c700b586176" providerId="LiveId" clId="{48E4426C-FD85-428B-8823-6908DB42E28D}" dt="2026-10-01T17:57:29.841" v="698" actId="1076"/>
          <ac:picMkLst>
            <pc:docMk/>
            <pc:sldMk cId="0" sldId="264"/>
            <ac:picMk id="174" creationId="{00000000-0000-0000-0000-000000000000}"/>
          </ac:picMkLst>
        </pc:picChg>
      </pc:sldChg>
      <pc:sldChg chg="addSp delSp modSp del mod">
        <pc:chgData name="Mauricio Nolazco" userId="8e064c700b586176" providerId="LiveId" clId="{48E4426C-FD85-428B-8823-6908DB42E28D}" dt="2026-10-01T18:32:27.864" v="769" actId="2696"/>
        <pc:sldMkLst>
          <pc:docMk/>
          <pc:sldMk cId="0" sldId="265"/>
        </pc:sldMkLst>
        <pc:spChg chg="del mod">
          <ac:chgData name="Mauricio Nolazco" userId="8e064c700b586176" providerId="LiveId" clId="{48E4426C-FD85-428B-8823-6908DB42E28D}" dt="2026-10-01T18:27:47.503" v="768" actId="478"/>
          <ac:spMkLst>
            <pc:docMk/>
            <pc:sldMk cId="0" sldId="265"/>
            <ac:spMk id="167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5"/>
            <ac:spMk id="168" creationId="{00000000-0000-0000-0000-000000000000}"/>
          </ac:spMkLst>
        </pc:spChg>
        <pc:spChg chg="del 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5"/>
            <ac:spMk id="170" creationId="{00000000-0000-0000-0000-000000000000}"/>
          </ac:spMkLst>
        </pc:spChg>
      </pc:sldChg>
      <pc:sldChg chg="addSp delSp modSp mod">
        <pc:chgData name="Mauricio Nolazco" userId="8e064c700b586176" providerId="LiveId" clId="{48E4426C-FD85-428B-8823-6908DB42E28D}" dt="2026-10-01T18:33:03.239" v="784" actId="478"/>
        <pc:sldMkLst>
          <pc:docMk/>
          <pc:sldMk cId="0" sldId="266"/>
        </pc:sldMkLst>
        <pc:spChg chg="add mod">
          <ac:chgData name="Mauricio Nolazco" userId="8e064c700b586176" providerId="LiveId" clId="{48E4426C-FD85-428B-8823-6908DB42E28D}" dt="2026-10-01T18:32:55.962" v="782" actId="20577"/>
          <ac:spMkLst>
            <pc:docMk/>
            <pc:sldMk cId="0" sldId="266"/>
            <ac:spMk id="4" creationId="{5B702F44-2088-B063-4BD6-B60713F5764E}"/>
          </ac:spMkLst>
        </pc:spChg>
        <pc:spChg chg="del mod">
          <ac:chgData name="Mauricio Nolazco" userId="8e064c700b586176" providerId="LiveId" clId="{48E4426C-FD85-428B-8823-6908DB42E28D}" dt="2026-10-01T18:32:36.781" v="770" actId="478"/>
          <ac:spMkLst>
            <pc:docMk/>
            <pc:sldMk cId="0" sldId="266"/>
            <ac:spMk id="190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6"/>
            <ac:spMk id="191" creationId="{00000000-0000-0000-0000-000000000000}"/>
          </ac:spMkLst>
        </pc:spChg>
        <pc:spChg chg="del mod">
          <ac:chgData name="Mauricio Nolazco" userId="8e064c700b586176" providerId="LiveId" clId="{48E4426C-FD85-428B-8823-6908DB42E28D}" dt="2026-10-01T18:33:03.239" v="784" actId="478"/>
          <ac:spMkLst>
            <pc:docMk/>
            <pc:sldMk cId="0" sldId="266"/>
            <ac:spMk id="193" creationId="{00000000-0000-0000-0000-000000000000}"/>
          </ac:spMkLst>
        </pc:spChg>
        <pc:picChg chg="add del">
          <ac:chgData name="Mauricio Nolazco" userId="8e064c700b586176" providerId="LiveId" clId="{48E4426C-FD85-428B-8823-6908DB42E28D}" dt="2026-10-01T18:32:38.871" v="773" actId="22"/>
          <ac:picMkLst>
            <pc:docMk/>
            <pc:sldMk cId="0" sldId="266"/>
            <ac:picMk id="2" creationId="{F3FDAA3D-024A-AC38-586C-D4542A3F3D3A}"/>
          </ac:picMkLst>
        </pc:picChg>
        <pc:picChg chg="del">
          <ac:chgData name="Mauricio Nolazco" userId="8e064c700b586176" providerId="LiveId" clId="{48E4426C-FD85-428B-8823-6908DB42E28D}" dt="2026-10-01T18:32:57.824" v="783" actId="478"/>
          <ac:picMkLst>
            <pc:docMk/>
            <pc:sldMk cId="0" sldId="266"/>
            <ac:picMk id="192" creationId="{00000000-0000-0000-0000-000000000000}"/>
          </ac:picMkLst>
        </pc:picChg>
      </pc:sldChg>
      <pc:sldChg chg="modSp mod">
        <pc:chgData name="Mauricio Nolazco" userId="8e064c700b586176" providerId="LiveId" clId="{48E4426C-FD85-428B-8823-6908DB42E28D}" dt="2026-10-01T17:43:39.566" v="572" actId="790"/>
        <pc:sldMkLst>
          <pc:docMk/>
          <pc:sldMk cId="0" sldId="267"/>
        </pc:sldMkLst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7"/>
            <ac:spMk id="198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7"/>
            <ac:spMk id="199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7"/>
            <ac:spMk id="206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7:43:39.566" v="572" actId="790"/>
        <pc:sldMkLst>
          <pc:docMk/>
          <pc:sldMk cId="0" sldId="268"/>
        </pc:sldMkLst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8"/>
            <ac:spMk id="215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8"/>
            <ac:spMk id="216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8"/>
            <ac:spMk id="217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7:43:39.566" v="572" actId="790"/>
        <pc:sldMkLst>
          <pc:docMk/>
          <pc:sldMk cId="0" sldId="269"/>
        </pc:sldMkLst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9"/>
            <ac:spMk id="223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9"/>
            <ac:spMk id="224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69"/>
            <ac:spMk id="225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10-01T17:43:39.566" v="572" actId="790"/>
        <pc:sldMkLst>
          <pc:docMk/>
          <pc:sldMk cId="0" sldId="270"/>
        </pc:sldMkLst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70"/>
            <ac:spMk id="233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70"/>
            <ac:spMk id="234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70"/>
            <ac:spMk id="235" creationId="{00000000-0000-0000-0000-000000000000}"/>
          </ac:spMkLst>
        </pc:spChg>
        <pc:spChg chg="mod">
          <ac:chgData name="Mauricio Nolazco" userId="8e064c700b586176" providerId="LiveId" clId="{48E4426C-FD85-428B-8823-6908DB42E28D}" dt="2026-10-01T17:43:39.566" v="572" actId="790"/>
          <ac:spMkLst>
            <pc:docMk/>
            <pc:sldMk cId="0" sldId="270"/>
            <ac:spMk id="2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Logo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sanj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1400" noProof="0" dirty="0">
                <a:solidFill>
                  <a:schemeClr val="tx1"/>
                </a:solidFill>
                <a:latin typeface="Arial"/>
              </a:rPr>
              <a:t>Octubre de 2026</a:t>
            </a:r>
            <a:endParaRPr lang="es-MX" sz="1400" b="0" i="0" u="none" strike="noStrike" cap="none" noProof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9" y="1849732"/>
            <a:ext cx="8606189" cy="243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700" b="0" i="0" noProof="0" dirty="0">
                <a:solidFill>
                  <a:srgbClr val="505050"/>
                </a:solidFill>
                <a:latin typeface="Arial"/>
              </a:rPr>
              <a:t>Carrera: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Aft>
                <a:spcPts val="800"/>
              </a:spcAft>
            </a:pPr>
            <a:r>
              <a:rPr lang="es-MX" sz="1900" b="1" i="0" noProof="0" dirty="0">
                <a:solidFill>
                  <a:srgbClr val="000000"/>
                </a:solidFill>
                <a:latin typeface="Arial"/>
              </a:rPr>
              <a:t>Ingeniería en Sistemas Computacionales</a:t>
            </a:r>
          </a:p>
          <a:p>
            <a:pPr algn="ctr">
              <a:spcAft>
                <a:spcPts val="1200"/>
              </a:spcAft>
            </a:pPr>
            <a:r>
              <a:rPr lang="es-MX" sz="2100" b="1" i="0" noProof="0" dirty="0">
                <a:solidFill>
                  <a:schemeClr val="tx1"/>
                </a:solidFill>
                <a:latin typeface="Arial"/>
              </a:rPr>
              <a:t>“Sistema de Inventario y Mapeo Lógico de Redes GPON / </a:t>
            </a:r>
            <a:r>
              <a:rPr lang="es-MX" sz="2100" b="1" i="0" noProof="0" dirty="0" err="1">
                <a:solidFill>
                  <a:schemeClr val="tx1"/>
                </a:solidFill>
                <a:latin typeface="Arial"/>
              </a:rPr>
              <a:t>FTTx</a:t>
            </a:r>
            <a:r>
              <a:rPr lang="es-MX" sz="2100" b="1" i="0" noProof="0" dirty="0">
                <a:solidFill>
                  <a:schemeClr val="tx1"/>
                </a:solidFill>
                <a:latin typeface="Arial"/>
              </a:rPr>
              <a:t>”</a:t>
            </a:r>
          </a:p>
          <a:p>
            <a:pPr algn="ctr"/>
            <a:r>
              <a:rPr lang="es-MX" sz="1700" b="0" i="0" noProof="0" dirty="0">
                <a:solidFill>
                  <a:srgbClr val="505050"/>
                </a:solidFill>
                <a:latin typeface="Arial"/>
              </a:rPr>
              <a:t>Presenta:</a:t>
            </a:r>
          </a:p>
          <a:p>
            <a:pPr algn="ctr">
              <a:spcAft>
                <a:spcPts val="800"/>
              </a:spcAft>
            </a:pPr>
            <a:r>
              <a:rPr lang="es-MX" sz="1900" b="1" i="0" noProof="0" dirty="0">
                <a:solidFill>
                  <a:srgbClr val="000000"/>
                </a:solidFill>
                <a:latin typeface="Arial"/>
              </a:rPr>
              <a:t>Mauricio Nolazco </a:t>
            </a:r>
            <a:r>
              <a:rPr lang="es-MX" sz="1900" b="1" i="0" noProof="0" dirty="0" err="1">
                <a:solidFill>
                  <a:srgbClr val="000000"/>
                </a:solidFill>
                <a:latin typeface="Arial"/>
              </a:rPr>
              <a:t>Lonjino</a:t>
            </a:r>
            <a:endParaRPr lang="es-MX" sz="1900" b="1" i="0" noProof="0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s-MX" sz="1700" b="0" i="0" noProof="0" dirty="0">
                <a:solidFill>
                  <a:srgbClr val="505050"/>
                </a:solidFill>
                <a:latin typeface="Arial"/>
              </a:rPr>
              <a:t>Asesor Interno:</a:t>
            </a:r>
          </a:p>
          <a:p>
            <a:pPr algn="ctr"/>
            <a:r>
              <a:rPr lang="es-MX" sz="1900" b="1" i="0" noProof="0" dirty="0">
                <a:solidFill>
                  <a:srgbClr val="000000"/>
                </a:solidFill>
                <a:latin typeface="Arial"/>
              </a:rPr>
              <a:t>I.S.C. Leonardo Becerril Sánchez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2400" b="1" i="0" noProof="0" dirty="0">
                <a:solidFill>
                  <a:srgbClr val="000000"/>
                </a:solidFill>
                <a:latin typeface="Calibri"/>
              </a:rPr>
              <a:t>UNIVERSIDAD MEXIQUENSE DEL BICENTENARIO
</a:t>
            </a:r>
            <a:r>
              <a:rPr lang="es-MX" sz="2000" b="1" i="0" noProof="0" dirty="0">
                <a:solidFill>
                  <a:srgbClr val="000000"/>
                </a:solidFill>
                <a:latin typeface="Calibri"/>
              </a:rPr>
              <a:t>UNIDAD DE ESTUDIOS SUPERIORES SAN JOSÉ DEL RINCÓN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Agenda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914400" y="1005840"/>
            <a:ext cx="7498079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1. Empresa (Ubicación Geográfica y Organigrama)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2. Introducción al Proyecto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3. Planteamiento del Problema y Pregunta de Investigación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4. Justificación Técnica y Operativa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5. Objetivos del Proyecto (General y Específicos)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6. Herramientas Tecnológicas (Stack de Software)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7. Evidencias de Avance Técnico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8. Cronograma de Actividades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9. Conclusiones Preliminares (Avance)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10. Bibliografía y Referencias</a:t>
            </a: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2/15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 algn="l">
              <a:lnSpc>
                <a:spcPct val="130000"/>
              </a:lnSpc>
              <a:buNone/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GPON TELECOM S.A. de C.V. es una empresa proveedora de servicios de telecomunicaciones e Internet de alta velocidad mediante fibra óptica y antena, ubicada en Ejido San José del Rincón, Estado de México, cuya misión operativa se enfoca en brindar conectividad digital confiable a comunidades urbanas y rurales mediante infraestructura pasiva GPON de última generación.</a:t>
            </a: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Empresa</a:t>
            </a:r>
            <a:endParaRPr lang="es-MX" sz="3500" b="0" i="0" u="none" strike="noStrike" cap="none" noProof="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3/15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t="16890" r="2446"/>
          <a:stretch/>
        </p:blipFill>
        <p:spPr>
          <a:xfrm>
            <a:off x="1645920" y="2560320"/>
            <a:ext cx="5029200" cy="22402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Empresa</a:t>
            </a:r>
            <a:endParaRPr lang="es-MX" sz="3500" b="0" i="0" u="none" strike="noStrike" cap="none" noProof="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4/15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97280" y="914400"/>
            <a:ext cx="621792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60498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731520" y="1005840"/>
            <a:ext cx="7680960" cy="1778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El presente proyecto de residencia comprende el desarrollo de una plataforma web integral para el inventario centralizado y mapeo geoespacial de la red de fibra óptica GPON/</a:t>
            </a:r>
            <a:r>
              <a:rPr lang="es-MX" noProof="0" dirty="0" err="1"/>
              <a:t>FTTx</a:t>
            </a:r>
            <a:r>
              <a:rPr lang="es-MX" noProof="0" dirty="0"/>
              <a:t> de la empresa GPON TELECOM S.A. de C.V. Su propósito fundamental es modernizar y reemplazar la gestión manual desarticulada en campo, previniendo colisiones en la asignación de puertos y saturación imprevista en cajas NAP.</a:t>
            </a:r>
            <a:endParaRPr lang="es-MX" sz="2400" b="0" i="0" u="none" strike="noStrike" cap="none" noProof="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Introducción</a:t>
            </a:r>
            <a:endParaRPr lang="es-MX" sz="3500" b="0" i="0" u="none" strike="noStrike" cap="none" noProof="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5/15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1520" y="960120"/>
            <a:ext cx="7680960" cy="356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defRPr sz="145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Actualmente, la empresa GPON TELECOM S.A. de C.V. enfrenta severas dificultades operativas derivadas de la gestión manual y desarticulada en el inventario de su red de fibra óptica pasiva. La carencia de un registro digital centralizado provoca frecuentes colisiones por asignación concurrente de puertos entre cuadrillas de campo y personal de NOC, saturación inadvertida en cajas terminales NAP y demoras críticas en la provisión de nuevos suscriptores, dificultando la supervisión técnica y la toma de decisiones sobre la infraestructura de telecomunicaciones.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50" b="1" i="0">
                <a:solidFill>
                  <a:srgbClr val="111827"/>
                </a:solidFill>
                <a:latin typeface="Arial"/>
              </a:defRPr>
            </a:pPr>
            <a:r>
              <a:rPr lang="es-MX" noProof="0" dirty="0">
                <a:solidFill>
                  <a:schemeClr val="tx1"/>
                </a:solidFill>
              </a:rPr>
              <a:t>Pregunta </a:t>
            </a:r>
            <a:r>
              <a:rPr lang="es-MX" dirty="0">
                <a:solidFill>
                  <a:schemeClr val="tx1"/>
                </a:solidFill>
              </a:rPr>
              <a:t>generadora</a:t>
            </a:r>
            <a:r>
              <a:rPr lang="es-MX" noProof="0" dirty="0">
                <a:solidFill>
                  <a:schemeClr val="tx1"/>
                </a:solidFill>
              </a:rPr>
              <a:t>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50" b="0" i="1">
                <a:solidFill>
                  <a:srgbClr val="1F2937"/>
                </a:solidFill>
                <a:latin typeface="Arial"/>
              </a:defRPr>
            </a:pPr>
            <a:r>
              <a:rPr lang="es-MX" b="1" noProof="0" dirty="0">
                <a:solidFill>
                  <a:schemeClr val="tx1"/>
                </a:solidFill>
              </a:rPr>
              <a:t>¿El </a:t>
            </a:r>
            <a:r>
              <a:rPr lang="es-MX" b="1" dirty="0">
                <a:solidFill>
                  <a:schemeClr val="tx1"/>
                </a:solidFill>
              </a:rPr>
              <a:t>desarrollo de un sistema web integral de inventario y mapeo lógico permitirá  modernizar la gestión operativa y optimizar la administración de la red de fibra óptica GPON/</a:t>
            </a:r>
            <a:r>
              <a:rPr lang="es-MX" b="1" dirty="0" err="1">
                <a:solidFill>
                  <a:schemeClr val="tx1"/>
                </a:solidFill>
              </a:rPr>
              <a:t>FTTx</a:t>
            </a:r>
            <a:r>
              <a:rPr lang="es-MX" b="1" dirty="0">
                <a:solidFill>
                  <a:schemeClr val="tx1"/>
                </a:solidFill>
              </a:rPr>
              <a:t> en la empresa GPON TELECOM S.A. de C.V.?</a:t>
            </a:r>
            <a:endParaRPr lang="es-MX" b="1" noProof="0" dirty="0">
              <a:solidFill>
                <a:schemeClr val="tx1"/>
              </a:solidFill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Planteamiento del problema</a:t>
            </a:r>
            <a:endParaRPr lang="es-MX" sz="3500" b="0" i="0" u="none" strike="noStrike" cap="none" noProof="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6/15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Justificación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7/15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31520" y="1005840"/>
            <a:ext cx="7680960" cy="2713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rPr lang="es-MX"/>
              <a:t>El desarrollo</a:t>
            </a:r>
            <a:r>
              <a:rPr lang="es-MX" noProof="0"/>
              <a:t> </a:t>
            </a:r>
            <a:r>
              <a:rPr lang="es-MX" noProof="0" dirty="0"/>
              <a:t>de este sistema se justifica al transformar integralmente la operatividad y rentabilidad de GPON TELECOM S.A. de C.V., automatizando la asignación y liberación de puertos SC-APC para reducir los tiempos de atención técnica de 45 a tan solo 15 minutos por suscriptor. Asimismo, faculta al centro de operaciones y cuadrillas para disponer de trazabilidad geoespacial en tiempo real con semaforización de saturación, disminuyendo en un 80% los traslados técnicos fallidos por cajas saturadas y protegiendo de forma sustentable la inversión en la infraestructura pasiva de fibra óptica.</a:t>
            </a:r>
            <a:endParaRPr lang="es-MX" sz="140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31520" y="1005840"/>
            <a:ext cx="7680960" cy="365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111827"/>
                </a:solidFill>
                <a:latin typeface="Arial"/>
              </a:defRPr>
            </a:pPr>
            <a:r>
              <a:rPr lang="es-MX" sz="1800" noProof="0" dirty="0">
                <a:solidFill>
                  <a:schemeClr val="tx1"/>
                </a:solidFill>
                <a:latin typeface="Arial"/>
              </a:rPr>
              <a:t>Objetivo General:</a:t>
            </a:r>
            <a:endParaRPr lang="es-MX" sz="3200" b="0" i="0" u="none" strike="noStrike" cap="none" noProof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200"/>
              </a:spcAft>
            </a:pPr>
            <a:r>
              <a:rPr lang="es-MX" noProof="0" dirty="0">
                <a:solidFill>
                  <a:schemeClr val="tx1"/>
                </a:solidFill>
                <a:latin typeface="Arial"/>
              </a:rPr>
              <a:t>Desarrollar una aplicación web para el inventario y mapeo lógico de redes GPON/</a:t>
            </a:r>
            <a:r>
              <a:rPr lang="es-MX" noProof="0" dirty="0" err="1">
                <a:solidFill>
                  <a:schemeClr val="tx1"/>
                </a:solidFill>
                <a:latin typeface="Arial"/>
              </a:rPr>
              <a:t>FTTx</a:t>
            </a:r>
            <a:r>
              <a:rPr lang="es-MX" noProof="0" dirty="0">
                <a:solidFill>
                  <a:schemeClr val="tx1"/>
                </a:solidFill>
                <a:latin typeface="Arial"/>
              </a:rPr>
              <a:t>, mediante el diseño de vistas tabulares y diagramas lógicos simples, para optimizar el control de la infraestructura por parte del equipo técnico y de soporte.</a:t>
            </a:r>
          </a:p>
          <a:p>
            <a:pPr>
              <a:spcAft>
                <a:spcPts val="200"/>
              </a:spcAft>
            </a:pPr>
            <a:r>
              <a:rPr lang="es-MX" sz="1600" b="1" noProof="0" dirty="0">
                <a:solidFill>
                  <a:schemeClr val="tx1"/>
                </a:solidFill>
                <a:latin typeface="Arial"/>
              </a:rPr>
              <a:t>Objetivos Específicos:</a:t>
            </a:r>
          </a:p>
          <a:p>
            <a:pPr>
              <a:spcAft>
                <a:spcPts val="500"/>
              </a:spcAft>
            </a:pPr>
            <a:r>
              <a:rPr lang="es-MX" noProof="0" dirty="0">
                <a:solidFill>
                  <a:schemeClr val="tx1"/>
                </a:solidFill>
                <a:latin typeface="Arial"/>
              </a:rPr>
              <a:t>1. Analizar los requerimientos operativos de la red de fibra óptica mediante el levantamiento de información sobre el hardware (NAP/ODF), para diseñar la arquitectura del sistema y el modelo de la base de datos.</a:t>
            </a:r>
          </a:p>
          <a:p>
            <a:pPr>
              <a:spcAft>
                <a:spcPts val="500"/>
              </a:spcAft>
            </a:pPr>
            <a:r>
              <a:rPr lang="es-MX" noProof="0" dirty="0">
                <a:solidFill>
                  <a:schemeClr val="tx1"/>
                </a:solidFill>
                <a:latin typeface="Arial"/>
              </a:rPr>
              <a:t>2. Construir una interfaz web responsiva a través del uso de tecnologías de desarrollo </a:t>
            </a:r>
            <a:r>
              <a:rPr lang="es-MX" noProof="0" dirty="0" err="1">
                <a:solidFill>
                  <a:schemeClr val="tx1"/>
                </a:solidFill>
                <a:latin typeface="Arial"/>
              </a:rPr>
              <a:t>frontend</a:t>
            </a:r>
            <a:r>
              <a:rPr lang="es-MX" noProof="0" dirty="0">
                <a:solidFill>
                  <a:schemeClr val="tx1"/>
                </a:solidFill>
                <a:latin typeface="Arial"/>
              </a:rPr>
              <a:t>, para que los técnicos de campo actualicen desde su celular el estado de los puertos (libres, ocupados, dañados).</a:t>
            </a:r>
          </a:p>
          <a:p>
            <a:pPr>
              <a:spcAft>
                <a:spcPts val="500"/>
              </a:spcAft>
            </a:pPr>
            <a:r>
              <a:rPr lang="es-MX" noProof="0" dirty="0">
                <a:solidFill>
                  <a:schemeClr val="tx1"/>
                </a:solidFill>
                <a:latin typeface="Arial"/>
              </a:rPr>
              <a:t>3. Programar el </a:t>
            </a:r>
            <a:r>
              <a:rPr lang="es-MX" noProof="0" dirty="0" err="1">
                <a:solidFill>
                  <a:schemeClr val="tx1"/>
                </a:solidFill>
                <a:latin typeface="Arial"/>
              </a:rPr>
              <a:t>backend</a:t>
            </a:r>
            <a:r>
              <a:rPr lang="es-MX" noProof="0" dirty="0">
                <a:solidFill>
                  <a:schemeClr val="tx1"/>
                </a:solidFill>
                <a:latin typeface="Arial"/>
              </a:rPr>
              <a:t> del sistema mediante la creación de una API centralizada, para gestionar la información de los activos y vincular los puertos de red correspondientes a los datos de los clientes.</a:t>
            </a: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Objetivos</a:t>
            </a:r>
            <a:endParaRPr lang="es-MX" sz="3500" b="0" i="0" u="none" strike="noStrike" cap="none" noProof="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8/15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5261549" y="13603"/>
            <a:ext cx="3882452" cy="76940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4400" noProof="0" dirty="0">
                <a:solidFill>
                  <a:schemeClr val="accent3"/>
                </a:solidFill>
                <a:latin typeface="Arial"/>
              </a:rPr>
              <a:t>Herramientas</a:t>
            </a: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noProof="0" dirty="0"/>
              <a:t>9/15</a:t>
            </a:r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3" y="1555337"/>
            <a:ext cx="1080000" cy="723600"/>
          </a:xfrm>
          <a:prstGeom prst="rect">
            <a:avLst/>
          </a:prstGeom>
        </p:spPr>
      </p:pic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506" y="2497675"/>
            <a:ext cx="1080000" cy="1080000"/>
          </a:xfrm>
          <a:prstGeom prst="rect">
            <a:avLst/>
          </a:prstGeom>
        </p:spPr>
      </p:pic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109" y="2781095"/>
            <a:ext cx="1080000" cy="645469"/>
          </a:xfrm>
          <a:prstGeom prst="rect">
            <a:avLst/>
          </a:prstGeom>
        </p:spPr>
      </p:pic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269" y="2571744"/>
            <a:ext cx="1080000" cy="1064180"/>
          </a:xfrm>
          <a:prstGeom prst="rect">
            <a:avLst/>
          </a:prstGeom>
        </p:spPr>
      </p:pic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69" y="1372292"/>
            <a:ext cx="1080000" cy="1038322"/>
          </a:xfrm>
          <a:prstGeom prst="rect">
            <a:avLst/>
          </a:prstGeom>
        </p:spPr>
      </p:pic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5956" y="1608836"/>
            <a:ext cx="1080000" cy="617196"/>
          </a:xfrm>
          <a:prstGeom prst="rect">
            <a:avLst/>
          </a:prstGeom>
        </p:spPr>
      </p:pic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3506" y="3784424"/>
            <a:ext cx="1080000" cy="295082"/>
          </a:xfrm>
          <a:prstGeom prst="rect">
            <a:avLst/>
          </a:prstGeom>
        </p:spPr>
      </p:pic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2000" y="4305664"/>
            <a:ext cx="1080000" cy="1080000"/>
          </a:xfrm>
          <a:prstGeom prst="rect">
            <a:avLst/>
          </a:prstGeom>
        </p:spPr>
      </p:pic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0128" y="1575834"/>
            <a:ext cx="1080000" cy="675000"/>
          </a:xfrm>
          <a:prstGeom prst="rect">
            <a:avLst/>
          </a:prstGeom>
        </p:spPr>
      </p:pic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0128" y="2470277"/>
            <a:ext cx="1080000" cy="1080000"/>
          </a:xfrm>
          <a:prstGeom prst="rect">
            <a:avLst/>
          </a:prstGeom>
        </p:spPr>
      </p:pic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2570" y="3635497"/>
            <a:ext cx="1080000" cy="47418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749F498-D431-C86C-B805-9F6D5C9B938B}"/>
              </a:ext>
            </a:extLst>
          </p:cNvPr>
          <p:cNvSpPr txBox="1"/>
          <p:nvPr/>
        </p:nvSpPr>
        <p:spPr>
          <a:xfrm>
            <a:off x="804000" y="1022397"/>
            <a:ext cx="1304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Diseño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C40722-6710-9592-D786-497A053D4FC2}"/>
              </a:ext>
            </a:extLst>
          </p:cNvPr>
          <p:cNvSpPr txBox="1"/>
          <p:nvPr/>
        </p:nvSpPr>
        <p:spPr>
          <a:xfrm>
            <a:off x="3223506" y="1026297"/>
            <a:ext cx="2498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Funcionalidad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D9B067-6DFA-C3BC-FA82-AC8BDFF41E33}"/>
              </a:ext>
            </a:extLst>
          </p:cNvPr>
          <p:cNvSpPr txBox="1"/>
          <p:nvPr/>
        </p:nvSpPr>
        <p:spPr>
          <a:xfrm>
            <a:off x="6379171" y="1026297"/>
            <a:ext cx="2498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Base de datos</a:t>
            </a:r>
          </a:p>
        </p:txBody>
      </p:sp>
      <p:pic>
        <p:nvPicPr>
          <p:cNvPr id="6" name="Imagen 5" descr="The Best in Open Source Database Software: Top 10 Picks">
            <a:extLst>
              <a:ext uri="{FF2B5EF4-FFF2-40B4-BE49-F238E27FC236}">
                <a16:creationId xmlns:a16="http://schemas.microsoft.com/office/drawing/2014/main" id="{EA1A0C59-E598-1339-5263-2944F0B6727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5474" r="20743"/>
          <a:stretch>
            <a:fillRect/>
          </a:stretch>
        </p:blipFill>
        <p:spPr>
          <a:xfrm>
            <a:off x="6715758" y="1978514"/>
            <a:ext cx="1824953" cy="10383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Rectangle 190"/>
          <p:cNvSpPr/>
          <p:nvPr/>
        </p:nvSpPr>
        <p:spPr>
          <a:xfrm>
            <a:off x="8458200" y="6519672"/>
            <a:ext cx="685800" cy="338328"/>
          </a:xfrm>
          <a:prstGeom prst="rect">
            <a:avLst/>
          </a:prstGeom>
          <a:solidFill>
            <a:srgbClr val="7A1C35"/>
          </a:solidFill>
          <a:ln>
            <a:solidFill>
              <a:srgbClr val="7A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noProof="0" dirty="0">
                <a:solidFill>
                  <a:srgbClr val="FFFFFF"/>
                </a:solidFill>
                <a:latin typeface="Arial"/>
              </a:rPr>
              <a:t>11/15</a:t>
            </a:r>
          </a:p>
        </p:txBody>
      </p:sp>
      <p:sp>
        <p:nvSpPr>
          <p:cNvPr id="4" name="Google Shape;152;p8">
            <a:extLst>
              <a:ext uri="{FF2B5EF4-FFF2-40B4-BE49-F238E27FC236}">
                <a16:creationId xmlns:a16="http://schemas.microsoft.com/office/drawing/2014/main" id="{5B702F44-2088-B063-4BD6-B60713F5764E}"/>
              </a:ext>
            </a:extLst>
          </p:cNvPr>
          <p:cNvSpPr/>
          <p:nvPr/>
        </p:nvSpPr>
        <p:spPr>
          <a:xfrm>
            <a:off x="6592725" y="13603"/>
            <a:ext cx="2551275" cy="76940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Avance</a:t>
            </a:r>
            <a:endParaRPr lang="es-MX" sz="3500" b="0" i="0" u="none" strike="noStrike" cap="none" noProof="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4400" b="0" i="0" noProof="0" dirty="0">
                <a:solidFill>
                  <a:srgbClr val="76923C"/>
                </a:solidFill>
                <a:latin typeface="Calibri"/>
              </a:rPr>
              <a:t>Cronograma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12/15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960120"/>
            <a:ext cx="67665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 txBox="1"/>
          <p:nvPr/>
        </p:nvSpPr>
        <p:spPr>
          <a:xfrm>
            <a:off x="731520" y="4919472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000" noProof="0" dirty="0">
                <a:solidFill>
                  <a:srgbClr val="7A1C35"/>
                </a:solidFill>
                <a:latin typeface="Arial"/>
              </a:rPr>
              <a:t>Figura 4. Cronograma de actividades del proyecto de residencia profesional (Corte: 40% de avance físico y metodológico).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731520" y="1005840"/>
            <a:ext cx="7680960" cy="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5000"/>
              </a:lnSpc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rPr lang="es-MX" sz="1250" noProof="0" dirty="0">
                <a:solidFill>
                  <a:srgbClr val="1E293B"/>
                </a:solidFill>
                <a:latin typeface="Arial"/>
              </a:rPr>
              <a:t>Con base en el cronograma de actividades planificado, el proyecto registra actualmente un avance físico y metodológico del 40%, cumpliendo satisfactoriamente en tiempo y forma con las fases de levantamiento de infraestructura, análisis formal de requerimientos, diseño arquitectónico del software y prototipado del visor cartográfico y del </a:t>
            </a:r>
            <a:r>
              <a:rPr lang="es-MX" sz="1250" noProof="0" dirty="0" err="1">
                <a:solidFill>
                  <a:srgbClr val="1E293B"/>
                </a:solidFill>
                <a:latin typeface="Arial"/>
              </a:rPr>
              <a:t>backend</a:t>
            </a:r>
            <a:r>
              <a:rPr lang="es-MX" sz="1250" noProof="0" dirty="0">
                <a:solidFill>
                  <a:srgbClr val="1E293B"/>
                </a:solidFill>
                <a:latin typeface="Arial"/>
              </a:rPr>
              <a:t> transaccional. Los resultados preliminares confirman la viabilidad técnica y operativa de la plataforma web, resolviendo la trazabilidad geoespacial de planta externa y sentando las bases sólidas para culminar con éxito la implementación en campo y la validación con las cuadrillas técnicas en las semanas restantes.</a:t>
            </a:r>
            <a:endParaRPr lang="es-MX" sz="1400" b="0" i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2743200" y="0"/>
            <a:ext cx="5486400" cy="64008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3800" b="0" i="0" noProof="0" dirty="0">
                <a:solidFill>
                  <a:srgbClr val="76923C"/>
                </a:solidFill>
                <a:latin typeface="Calibri"/>
              </a:rPr>
              <a:t>Conclusiones Preliminares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13/15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731520" y="105156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International </a:t>
            </a:r>
            <a:r>
              <a:rPr lang="es-MX" noProof="0" dirty="0" err="1"/>
              <a:t>Telecommunication</a:t>
            </a:r>
            <a:r>
              <a:rPr lang="es-MX" noProof="0" dirty="0"/>
              <a:t> Union. (2003). Recomendación ITU-T G.984.1 / G.984.2: Redes ópticas pasivas con capacidad de gigabit (GPON). Ginebra: ITU.</a:t>
            </a:r>
            <a:endParaRPr lang="es-MX" sz="14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Tanenbaum, A. S., &amp; Wetherall, D. J. (2014). Redes de computadoras (5.ª ed.). Ciudad de México: Pearson Educación.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Silberschatz, A., Korth, H. F., &amp; Sudarshan, S. (2019). </a:t>
            </a:r>
            <a:r>
              <a:rPr lang="es-MX" noProof="0" dirty="0" err="1"/>
              <a:t>Database</a:t>
            </a:r>
            <a:r>
              <a:rPr lang="es-MX" noProof="0" dirty="0"/>
              <a:t> </a:t>
            </a:r>
            <a:r>
              <a:rPr lang="es-MX" noProof="0" dirty="0" err="1"/>
              <a:t>System</a:t>
            </a:r>
            <a:r>
              <a:rPr lang="es-MX" noProof="0" dirty="0"/>
              <a:t> </a:t>
            </a:r>
            <a:r>
              <a:rPr lang="es-MX" noProof="0" dirty="0" err="1"/>
              <a:t>Concepts</a:t>
            </a:r>
            <a:r>
              <a:rPr lang="es-MX" noProof="0" dirty="0"/>
              <a:t> (7th ed.). Nueva York: McGraw-Hill.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World Wide Web </a:t>
            </a:r>
            <a:r>
              <a:rPr lang="es-MX" noProof="0" dirty="0" err="1"/>
              <a:t>Consortium</a:t>
            </a:r>
            <a:r>
              <a:rPr lang="es-MX" noProof="0" dirty="0"/>
              <a:t> (W3C). (2018). Web Content </a:t>
            </a:r>
            <a:r>
              <a:rPr lang="es-MX" noProof="0" dirty="0" err="1"/>
              <a:t>Accessibility</a:t>
            </a:r>
            <a:r>
              <a:rPr lang="es-MX" noProof="0" dirty="0"/>
              <a:t> </a:t>
            </a:r>
            <a:r>
              <a:rPr lang="es-MX" noProof="0" dirty="0" err="1"/>
              <a:t>Guidelines</a:t>
            </a:r>
            <a:r>
              <a:rPr lang="es-MX" noProof="0" dirty="0"/>
              <a:t> (WCAG) 2.1. W3C </a:t>
            </a:r>
            <a:r>
              <a:rPr lang="es-MX" noProof="0" dirty="0" err="1"/>
              <a:t>Recommendation</a:t>
            </a:r>
            <a:r>
              <a:rPr lang="es-MX" noProof="0" dirty="0"/>
              <a:t>. https://www.w3.org/TR/WCAG21/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rPr lang="es-MX" noProof="0" dirty="0"/>
              <a:t>PostgreSQL Global </a:t>
            </a:r>
            <a:r>
              <a:rPr lang="es-MX" noProof="0" dirty="0" err="1"/>
              <a:t>Development</a:t>
            </a:r>
            <a:r>
              <a:rPr lang="es-MX" noProof="0" dirty="0"/>
              <a:t> Group. (2024). PostgreSQL 16.0 </a:t>
            </a:r>
            <a:r>
              <a:rPr lang="es-MX" noProof="0" dirty="0" err="1"/>
              <a:t>Documentation</a:t>
            </a:r>
            <a:r>
              <a:rPr lang="es-MX" noProof="0" dirty="0"/>
              <a:t>: </a:t>
            </a:r>
            <a:r>
              <a:rPr lang="es-MX" noProof="0" dirty="0" err="1"/>
              <a:t>Explicit</a:t>
            </a:r>
            <a:r>
              <a:rPr lang="es-MX" noProof="0" dirty="0"/>
              <a:t> </a:t>
            </a:r>
            <a:r>
              <a:rPr lang="es-MX" noProof="0" dirty="0" err="1"/>
              <a:t>Locking</a:t>
            </a:r>
            <a:r>
              <a:rPr lang="es-MX" noProof="0" dirty="0"/>
              <a:t> and </a:t>
            </a:r>
            <a:r>
              <a:rPr lang="es-MX" noProof="0" dirty="0" err="1"/>
              <a:t>Transaction</a:t>
            </a:r>
            <a:r>
              <a:rPr lang="es-MX" noProof="0" dirty="0"/>
              <a:t> </a:t>
            </a:r>
            <a:r>
              <a:rPr lang="es-MX" noProof="0" dirty="0" err="1"/>
              <a:t>Isolation</a:t>
            </a:r>
            <a:r>
              <a:rPr lang="es-MX" noProof="0" dirty="0"/>
              <a:t>. https://www.postgresql.org/docs/16/</a:t>
            </a:r>
          </a:p>
        </p:txBody>
      </p:sp>
      <p:sp>
        <p:nvSpPr>
          <p:cNvPr id="224" name="Google Shape;224;p27"/>
          <p:cNvSpPr/>
          <p:nvPr/>
        </p:nvSpPr>
        <p:spPr>
          <a:xfrm>
            <a:off x="2743200" y="0"/>
            <a:ext cx="5486400" cy="64008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3800" b="0" i="0" noProof="0" dirty="0">
                <a:solidFill>
                  <a:srgbClr val="76923C"/>
                </a:solidFill>
                <a:latin typeface="Calibri"/>
              </a:rPr>
              <a:t>Bibliografía y Referencias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14/15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4" descr="Logo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4" descr="sanj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MX" sz="1400" noProof="0" dirty="0">
                <a:solidFill>
                  <a:srgbClr val="7A1C35"/>
                </a:solidFill>
                <a:latin typeface="Arial"/>
              </a:rPr>
              <a:t>Octubre de 2026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1371600" y="1645920"/>
            <a:ext cx="557784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5600" b="0" i="0" noProof="0" dirty="0">
                <a:solidFill>
                  <a:srgbClr val="76923C"/>
                </a:solidFill>
                <a:latin typeface="Calibri"/>
              </a:rPr>
              <a:t>¡Muchas Gracias!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600" b="0" i="0" noProof="0" dirty="0">
                <a:solidFill>
                  <a:srgbClr val="76923C"/>
                </a:solidFill>
                <a:latin typeface="Calibri"/>
              </a:rPr>
              <a:t>15/15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914400" y="2834640"/>
            <a:ext cx="6492240" cy="13849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4200" b="0" i="0" noProof="0" dirty="0">
                <a:solidFill>
                  <a:srgbClr val="76923C"/>
                </a:solidFill>
                <a:latin typeface="Calibri"/>
              </a:rPr>
              <a:t>¿Preguntas o Comentarios?
</a:t>
            </a:r>
            <a:endParaRPr lang="es-MX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990</Words>
  <Application>Microsoft Office PowerPoint</Application>
  <PresentationFormat>Presentación en pantalla (4:3)</PresentationFormat>
  <Paragraphs>69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Tahoma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luid</dc:creator>
  <cp:lastModifiedBy>Mauricio Nolazco</cp:lastModifiedBy>
  <cp:revision>5</cp:revision>
  <dcterms:created xsi:type="dcterms:W3CDTF">2002-01-26T11:17:21Z</dcterms:created>
  <dcterms:modified xsi:type="dcterms:W3CDTF">2026-10-01T18:33:44Z</dcterms:modified>
</cp:coreProperties>
</file>