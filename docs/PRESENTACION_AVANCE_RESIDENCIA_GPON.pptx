
<file path=[Content_Types].xml><?xml version="1.0" encoding="utf-8"?>
<Types xmlns="http://schemas.openxmlformats.org/package/2006/content-types">
  <Default Extension="8587dd0647ca82fb4ca0372a93f2e358" ContentType="image/png"/>
  <Default Extension="Default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Default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8587dd0647ca82fb4ca0372a93f2e358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port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"/>
            <a:ext cx="1173480" cy="1097280"/>
          </a:xfrm>
          <a:prstGeom prst="rect">
            <a:avLst/>
          </a:prstGeom>
        </p:spPr>
      </p:pic>
      <p:pic>
        <p:nvPicPr>
          <p:cNvPr id="4" name="Picture 3" descr="logo-gp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502920"/>
            <a:ext cx="1810512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457200"/>
            <a:ext cx="67052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A6828"/>
                </a:solidFill>
                <a:latin typeface="Arial"/>
              </a:defRPr>
            </a:pPr>
            <a:r>
              <a:rPr sz="2400" dirty="0"/>
              <a:t>UNIVERSIDAD MEXIQUENSE DEL BICENTENARIO</a:t>
            </a:r>
          </a:p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rPr sz="1600" dirty="0"/>
              <a:t>Unidad de </a:t>
            </a:r>
            <a:r>
              <a:rPr sz="1600" dirty="0" err="1"/>
              <a:t>Estudios</a:t>
            </a:r>
            <a:r>
              <a:rPr sz="1600" dirty="0"/>
              <a:t> Superiores San José del Rincón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 sz="2600" b="1">
                <a:solidFill>
                  <a:srgbClr val="1E1E1E"/>
                </a:solidFill>
                <a:latin typeface="Arial"/>
              </a:defRPr>
            </a:pPr>
            <a:r>
              <a:rPr sz="3200" dirty="0"/>
              <a:t>Sistema de </a:t>
            </a:r>
            <a:r>
              <a:rPr sz="3200" dirty="0" err="1"/>
              <a:t>Inventario</a:t>
            </a:r>
            <a:r>
              <a:rPr sz="3200" dirty="0"/>
              <a:t> y </a:t>
            </a:r>
            <a:r>
              <a:rPr sz="3200" dirty="0" err="1"/>
              <a:t>Mapeo</a:t>
            </a:r>
            <a:r>
              <a:rPr sz="3200" dirty="0"/>
              <a:t> </a:t>
            </a:r>
            <a:r>
              <a:rPr sz="3200" dirty="0" err="1"/>
              <a:t>Lógico</a:t>
            </a:r>
            <a:r>
              <a:rPr sz="3200" dirty="0"/>
              <a:t> de Redes GPON / FTTx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48495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rPr dirty="0"/>
              <a:t>Presenta: Mauricio Nolazco </a:t>
            </a:r>
            <a:r>
              <a:rPr dirty="0" err="1"/>
              <a:t>Lonjino</a:t>
            </a:r>
            <a:endParaRPr dirty="0"/>
          </a:p>
          <a:p>
            <a:pPr algn="ctr">
              <a:spcBef>
                <a:spcPts val="400"/>
              </a:spcBef>
              <a:defRPr sz="1400">
                <a:solidFill>
                  <a:srgbClr val="1E1E1E"/>
                </a:solidFill>
                <a:latin typeface="Arial"/>
              </a:defRPr>
            </a:pPr>
            <a:r>
              <a:rPr dirty="0" err="1"/>
              <a:t>Asesor</a:t>
            </a:r>
            <a:r>
              <a:rPr dirty="0"/>
              <a:t> </a:t>
            </a:r>
            <a:r>
              <a:rPr lang="es-MX" dirty="0"/>
              <a:t>interno</a:t>
            </a:r>
            <a:r>
              <a:rPr dirty="0"/>
              <a:t>: I.S.C. Leonardo Becerril Sánchez</a:t>
            </a:r>
            <a:endParaRPr lang="es-MX" dirty="0"/>
          </a:p>
          <a:p>
            <a:pPr algn="ctr">
              <a:spcBef>
                <a:spcPts val="400"/>
              </a:spcBef>
              <a:defRPr sz="1400">
                <a:solidFill>
                  <a:srgbClr val="1E1E1E"/>
                </a:solidFill>
                <a:latin typeface="Arial"/>
              </a:defRPr>
            </a:pPr>
            <a:r>
              <a:rPr lang="es-MX" dirty="0"/>
              <a:t>Asesor externo: L.I.A. Oscar Isaac Mendoza García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19695" y="342900"/>
            <a:ext cx="3840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5A6828"/>
                </a:solidFill>
                <a:latin typeface="Arial"/>
              </a:defRPr>
            </a:pPr>
            <a: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3627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400"/>
              </a:spcAft>
              <a:defRPr sz="1950">
                <a:solidFill>
                  <a:srgbClr val="1E1E1E"/>
                </a:solidFill>
                <a:latin typeface="Arial"/>
              </a:defRPr>
            </a:pPr>
            <a:r>
              <a:rPr sz="1600" dirty="0"/>
              <a:t>Las redes </a:t>
            </a:r>
            <a:r>
              <a:rPr sz="1600" dirty="0" err="1"/>
              <a:t>ópticas</a:t>
            </a:r>
            <a:r>
              <a:rPr sz="1600" dirty="0"/>
              <a:t> </a:t>
            </a:r>
            <a:r>
              <a:rPr sz="1600" dirty="0" err="1"/>
              <a:t>pasivas</a:t>
            </a:r>
            <a:r>
              <a:rPr sz="1600" dirty="0"/>
              <a:t> con </a:t>
            </a:r>
            <a:r>
              <a:rPr sz="1600" dirty="0" err="1"/>
              <a:t>capacidad</a:t>
            </a:r>
            <a:r>
              <a:rPr sz="1600" dirty="0"/>
              <a:t> de gigabit (GPON) </a:t>
            </a:r>
            <a:r>
              <a:rPr sz="1600" dirty="0" err="1"/>
              <a:t>constituyen</a:t>
            </a:r>
            <a:r>
              <a:rPr sz="1600" dirty="0"/>
              <a:t> el </a:t>
            </a:r>
            <a:r>
              <a:rPr sz="1600" dirty="0" err="1"/>
              <a:t>estándar</a:t>
            </a:r>
            <a:r>
              <a:rPr sz="1600" dirty="0"/>
              <a:t> primordial </a:t>
            </a:r>
            <a:r>
              <a:rPr sz="1600" dirty="0" err="1"/>
              <a:t>en</a:t>
            </a:r>
            <a:r>
              <a:rPr sz="1600" dirty="0"/>
              <a:t> el </a:t>
            </a:r>
            <a:r>
              <a:rPr sz="1600" dirty="0" err="1"/>
              <a:t>despliegue</a:t>
            </a:r>
            <a:r>
              <a:rPr sz="1600" dirty="0"/>
              <a:t> de </a:t>
            </a:r>
            <a:r>
              <a:rPr sz="1600" dirty="0" err="1"/>
              <a:t>infraestructuras</a:t>
            </a:r>
            <a:r>
              <a:rPr sz="1600" dirty="0"/>
              <a:t> de </a:t>
            </a:r>
            <a:r>
              <a:rPr sz="1600" dirty="0" err="1"/>
              <a:t>telecomunicaciones</a:t>
            </a:r>
            <a:r>
              <a:rPr sz="1600" dirty="0"/>
              <a:t> de </a:t>
            </a:r>
            <a:r>
              <a:rPr sz="1600" dirty="0" err="1"/>
              <a:t>alta</a:t>
            </a:r>
            <a:r>
              <a:rPr sz="1600" dirty="0"/>
              <a:t> </a:t>
            </a:r>
            <a:r>
              <a:rPr sz="1600" dirty="0" err="1"/>
              <a:t>velocidad</a:t>
            </a:r>
            <a:r>
              <a:rPr sz="1600" dirty="0"/>
              <a:t>. Al </a:t>
            </a:r>
            <a:r>
              <a:rPr sz="1600" dirty="0" err="1"/>
              <a:t>tratarse</a:t>
            </a:r>
            <a:r>
              <a:rPr sz="1600" dirty="0"/>
              <a:t> de redes punto-</a:t>
            </a:r>
            <a:r>
              <a:rPr sz="1600" dirty="0" err="1"/>
              <a:t>multipunto</a:t>
            </a:r>
            <a:r>
              <a:rPr sz="1600" dirty="0"/>
              <a:t> </a:t>
            </a:r>
            <a:r>
              <a:rPr sz="1600" dirty="0" err="1"/>
              <a:t>asimétricas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carecen</a:t>
            </a:r>
            <a:r>
              <a:rPr sz="1600" dirty="0"/>
              <a:t> de </a:t>
            </a:r>
            <a:r>
              <a:rPr sz="1600" dirty="0" err="1"/>
              <a:t>elementos</a:t>
            </a:r>
            <a:r>
              <a:rPr sz="1600" dirty="0"/>
              <a:t> </a:t>
            </a:r>
            <a:r>
              <a:rPr sz="1600" dirty="0" err="1"/>
              <a:t>activos</a:t>
            </a:r>
            <a:r>
              <a:rPr sz="1600" dirty="0"/>
              <a:t> entre la central de </a:t>
            </a:r>
            <a:r>
              <a:rPr sz="1600" dirty="0" err="1"/>
              <a:t>distribución</a:t>
            </a:r>
            <a:r>
              <a:rPr sz="1600" dirty="0"/>
              <a:t> y el </a:t>
            </a:r>
            <a:r>
              <a:rPr sz="1600" dirty="0" err="1"/>
              <a:t>suscriptor</a:t>
            </a:r>
            <a:r>
              <a:rPr sz="1600" dirty="0"/>
              <a:t> final, el </a:t>
            </a:r>
            <a:r>
              <a:rPr sz="1600" dirty="0" err="1"/>
              <a:t>seguimiento</a:t>
            </a:r>
            <a:r>
              <a:rPr sz="1600" dirty="0"/>
              <a:t> </a:t>
            </a:r>
            <a:r>
              <a:rPr sz="1600" dirty="0" err="1"/>
              <a:t>operativo</a:t>
            </a:r>
            <a:r>
              <a:rPr sz="1600" dirty="0"/>
              <a:t> de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hilo</a:t>
            </a:r>
            <a:r>
              <a:rPr sz="1600" dirty="0"/>
              <a:t>, divisor y </a:t>
            </a:r>
            <a:r>
              <a:rPr sz="1600" dirty="0" err="1"/>
              <a:t>puerto</a:t>
            </a:r>
            <a:r>
              <a:rPr sz="1600" dirty="0"/>
              <a:t> de </a:t>
            </a:r>
            <a:r>
              <a:rPr sz="1600" dirty="0" err="1"/>
              <a:t>conexión</a:t>
            </a:r>
            <a:r>
              <a:rPr sz="1600" dirty="0"/>
              <a:t> </a:t>
            </a:r>
            <a:r>
              <a:rPr sz="1600" dirty="0" err="1"/>
              <a:t>representa</a:t>
            </a:r>
            <a:r>
              <a:rPr sz="1600" dirty="0"/>
              <a:t> un factor </a:t>
            </a:r>
            <a:r>
              <a:rPr sz="1600" dirty="0" err="1"/>
              <a:t>determinante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la </a:t>
            </a:r>
            <a:r>
              <a:rPr sz="1600" dirty="0" err="1"/>
              <a:t>calidad</a:t>
            </a:r>
            <a:r>
              <a:rPr sz="1600" dirty="0"/>
              <a:t> y </a:t>
            </a:r>
            <a:r>
              <a:rPr sz="1600" dirty="0" err="1"/>
              <a:t>continuidad</a:t>
            </a:r>
            <a:r>
              <a:rPr sz="1600" dirty="0"/>
              <a:t> del </a:t>
            </a:r>
            <a:r>
              <a:rPr sz="1600" dirty="0" err="1"/>
              <a:t>servicio</a:t>
            </a:r>
            <a:r>
              <a:rPr sz="1600" dirty="0"/>
              <a:t>.</a:t>
            </a:r>
          </a:p>
          <a:p>
            <a:pPr algn="just">
              <a:lnSpc>
                <a:spcPct val="125000"/>
              </a:lnSpc>
              <a:spcAft>
                <a:spcPts val="1400"/>
              </a:spcAft>
              <a:defRPr sz="1950">
                <a:solidFill>
                  <a:srgbClr val="1E1E1E"/>
                </a:solidFill>
                <a:latin typeface="Arial"/>
              </a:defRPr>
            </a:pPr>
            <a:r>
              <a:rPr sz="1600" dirty="0"/>
              <a:t>En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escenarios</a:t>
            </a:r>
            <a:r>
              <a:rPr sz="1600" dirty="0"/>
              <a:t> de </a:t>
            </a:r>
            <a:r>
              <a:rPr sz="1600" dirty="0" err="1"/>
              <a:t>operación</a:t>
            </a:r>
            <a:r>
              <a:rPr sz="1600" dirty="0"/>
              <a:t> </a:t>
            </a:r>
            <a:r>
              <a:rPr sz="1600" dirty="0" err="1"/>
              <a:t>cotidiana</a:t>
            </a:r>
            <a:r>
              <a:rPr sz="1600" dirty="0"/>
              <a:t> de la </a:t>
            </a:r>
            <a:r>
              <a:rPr sz="1600" dirty="0" err="1"/>
              <a:t>empresa</a:t>
            </a:r>
            <a:r>
              <a:rPr sz="1600" dirty="0"/>
              <a:t> GPON TELECOM S.A. de C.V., la </a:t>
            </a:r>
            <a:r>
              <a:rPr sz="1600" dirty="0" err="1"/>
              <a:t>falta</a:t>
            </a:r>
            <a:r>
              <a:rPr sz="1600" dirty="0"/>
              <a:t> de </a:t>
            </a:r>
            <a:r>
              <a:rPr sz="1600" dirty="0" err="1"/>
              <a:t>convergencia</a:t>
            </a:r>
            <a:r>
              <a:rPr sz="1600" dirty="0"/>
              <a:t> entre las </a:t>
            </a:r>
            <a:r>
              <a:rPr sz="1600" dirty="0" err="1"/>
              <a:t>modificaciones</a:t>
            </a:r>
            <a:r>
              <a:rPr sz="1600" dirty="0"/>
              <a:t> </a:t>
            </a:r>
            <a:r>
              <a:rPr sz="1600" dirty="0" err="1"/>
              <a:t>ejecutadas</a:t>
            </a:r>
            <a:r>
              <a:rPr sz="1600" dirty="0"/>
              <a:t> </a:t>
            </a:r>
            <a:r>
              <a:rPr sz="1600" dirty="0" err="1"/>
              <a:t>físicamente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campo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técnicos</a:t>
            </a:r>
            <a:r>
              <a:rPr sz="1600" dirty="0"/>
              <a:t> </a:t>
            </a:r>
            <a:r>
              <a:rPr sz="1600" dirty="0" err="1"/>
              <a:t>instaladores</a:t>
            </a:r>
            <a:r>
              <a:rPr sz="1600" dirty="0"/>
              <a:t> y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registros</a:t>
            </a:r>
            <a:r>
              <a:rPr sz="1600" dirty="0"/>
              <a:t> </a:t>
            </a:r>
            <a:r>
              <a:rPr sz="1600" dirty="0" err="1"/>
              <a:t>custodiados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el </a:t>
            </a:r>
            <a:r>
              <a:rPr sz="1600" dirty="0" err="1"/>
              <a:t>área</a:t>
            </a:r>
            <a:r>
              <a:rPr sz="1600" dirty="0"/>
              <a:t> de </a:t>
            </a:r>
            <a:r>
              <a:rPr sz="1600" dirty="0" err="1"/>
              <a:t>soporte</a:t>
            </a:r>
            <a:r>
              <a:rPr sz="1600" dirty="0"/>
              <a:t> </a:t>
            </a:r>
            <a:r>
              <a:rPr sz="1600" dirty="0" err="1"/>
              <a:t>técnico</a:t>
            </a:r>
            <a:r>
              <a:rPr sz="1600" dirty="0"/>
              <a:t> genera </a:t>
            </a:r>
            <a:r>
              <a:rPr sz="1600" dirty="0" err="1"/>
              <a:t>discrepancias</a:t>
            </a:r>
            <a:r>
              <a:rPr sz="1600" dirty="0"/>
              <a:t> </a:t>
            </a:r>
            <a:r>
              <a:rPr sz="1600" dirty="0" err="1"/>
              <a:t>severas</a:t>
            </a:r>
            <a:r>
              <a:rPr sz="1600" dirty="0"/>
              <a:t> de </a:t>
            </a:r>
            <a:r>
              <a:rPr sz="1600" dirty="0" err="1"/>
              <a:t>inventario</a:t>
            </a:r>
            <a:r>
              <a:rPr sz="1600" dirty="0"/>
              <a:t>. A fin de </a:t>
            </a:r>
            <a:r>
              <a:rPr sz="1600" dirty="0" err="1"/>
              <a:t>subsanar</a:t>
            </a:r>
            <a:r>
              <a:rPr sz="1600" dirty="0"/>
              <a:t> </a:t>
            </a:r>
            <a:r>
              <a:rPr sz="1600" dirty="0" err="1"/>
              <a:t>esta</a:t>
            </a:r>
            <a:r>
              <a:rPr sz="1600" dirty="0"/>
              <a:t> </a:t>
            </a:r>
            <a:r>
              <a:rPr sz="1600" dirty="0" err="1"/>
              <a:t>problemática</a:t>
            </a:r>
            <a:r>
              <a:rPr sz="1600" dirty="0"/>
              <a:t>, el </a:t>
            </a:r>
            <a:r>
              <a:rPr sz="1600" dirty="0" err="1"/>
              <a:t>presente</a:t>
            </a:r>
            <a:r>
              <a:rPr sz="1600" dirty="0"/>
              <a:t> </a:t>
            </a:r>
            <a:r>
              <a:rPr sz="1600" dirty="0" err="1"/>
              <a:t>proyecto</a:t>
            </a:r>
            <a:r>
              <a:rPr sz="1600" dirty="0"/>
              <a:t> </a:t>
            </a:r>
            <a:r>
              <a:rPr sz="1600" dirty="0" err="1"/>
              <a:t>desarrolla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plataforma</a:t>
            </a:r>
            <a:r>
              <a:rPr sz="1600" dirty="0"/>
              <a:t> web integral para el </a:t>
            </a:r>
            <a:r>
              <a:rPr sz="1600" dirty="0" err="1"/>
              <a:t>inventario</a:t>
            </a:r>
            <a:r>
              <a:rPr sz="1600" dirty="0"/>
              <a:t>, </a:t>
            </a:r>
            <a:r>
              <a:rPr sz="1600" dirty="0" err="1"/>
              <a:t>auditoría</a:t>
            </a:r>
            <a:r>
              <a:rPr sz="1600" dirty="0"/>
              <a:t> y </a:t>
            </a:r>
            <a:r>
              <a:rPr sz="1600" dirty="0" err="1"/>
              <a:t>mapeo</a:t>
            </a:r>
            <a:r>
              <a:rPr sz="1600" dirty="0"/>
              <a:t> </a:t>
            </a:r>
            <a:r>
              <a:rPr sz="1600" dirty="0" err="1"/>
              <a:t>lógico</a:t>
            </a:r>
            <a:r>
              <a:rPr sz="1600" dirty="0"/>
              <a:t> </a:t>
            </a:r>
            <a:r>
              <a:rPr sz="1600" dirty="0" err="1"/>
              <a:t>georreferenciado</a:t>
            </a:r>
            <a:r>
              <a:rPr sz="1600" dirty="0"/>
              <a:t> de la red </a:t>
            </a:r>
            <a:r>
              <a:rPr sz="1600" dirty="0" err="1"/>
              <a:t>pasiva</a:t>
            </a:r>
            <a:r>
              <a:rPr sz="1600" dirty="0"/>
              <a:t>, </a:t>
            </a:r>
            <a:r>
              <a:rPr sz="1600" dirty="0" err="1"/>
              <a:t>optimizando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procesos</a:t>
            </a:r>
            <a:r>
              <a:rPr sz="1600" dirty="0"/>
              <a:t> </a:t>
            </a:r>
            <a:r>
              <a:rPr sz="1600" dirty="0" err="1"/>
              <a:t>técnicos</a:t>
            </a:r>
            <a:r>
              <a:rPr sz="1600" dirty="0"/>
              <a:t> y </a:t>
            </a:r>
            <a:r>
              <a:rPr sz="1600" dirty="0" err="1"/>
              <a:t>asegurando</a:t>
            </a:r>
            <a:r>
              <a:rPr sz="1600" dirty="0"/>
              <a:t> la </a:t>
            </a:r>
            <a:r>
              <a:rPr sz="1600" dirty="0" err="1"/>
              <a:t>trazabilidad</a:t>
            </a:r>
            <a:r>
              <a:rPr sz="1600" dirty="0"/>
              <a:t> de la </a:t>
            </a:r>
            <a:r>
              <a:rPr sz="1600" dirty="0" err="1"/>
              <a:t>infraestructura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San José del Rincón.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58991" y="411480"/>
            <a:ext cx="4901184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5A6828"/>
                </a:solidFill>
                <a:latin typeface="Arial"/>
              </a:defRPr>
            </a:pPr>
            <a:r>
              <a:t>Planteamiento del Problema</a:t>
            </a:r>
          </a:p>
        </p:txBody>
      </p:sp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463040"/>
            <a:ext cx="10362895" cy="3934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400"/>
              </a:spcAft>
              <a:defRPr sz="1850">
                <a:solidFill>
                  <a:srgbClr val="1E1E1E"/>
                </a:solidFill>
                <a:latin typeface="Arial"/>
              </a:defRPr>
            </a:pPr>
            <a:r>
              <a:rPr sz="1600" dirty="0"/>
              <a:t>En la </a:t>
            </a:r>
            <a:r>
              <a:rPr sz="1600" dirty="0" err="1"/>
              <a:t>administración</a:t>
            </a:r>
            <a:r>
              <a:rPr sz="1600" dirty="0"/>
              <a:t> </a:t>
            </a:r>
            <a:r>
              <a:rPr sz="1600" dirty="0" err="1"/>
              <a:t>operativa</a:t>
            </a:r>
            <a:r>
              <a:rPr sz="1600" dirty="0"/>
              <a:t> de redes de </a:t>
            </a:r>
            <a:r>
              <a:rPr sz="1600" dirty="0" err="1"/>
              <a:t>telecomunicaciones</a:t>
            </a:r>
            <a:r>
              <a:rPr sz="1600" dirty="0"/>
              <a:t> FTTx, la </a:t>
            </a:r>
            <a:r>
              <a:rPr sz="1600" dirty="0" err="1"/>
              <a:t>problemática</a:t>
            </a:r>
            <a:r>
              <a:rPr sz="1600" dirty="0"/>
              <a:t> </a:t>
            </a:r>
            <a:r>
              <a:rPr sz="1600" dirty="0" err="1"/>
              <a:t>crítica</a:t>
            </a:r>
            <a:r>
              <a:rPr sz="1600" dirty="0"/>
              <a:t> </a:t>
            </a:r>
            <a:r>
              <a:rPr sz="1600" dirty="0" err="1"/>
              <a:t>radica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el </a:t>
            </a:r>
            <a:r>
              <a:rPr sz="1600" dirty="0" err="1"/>
              <a:t>desfase</a:t>
            </a:r>
            <a:r>
              <a:rPr sz="1600" dirty="0"/>
              <a:t> temporal y la </a:t>
            </a:r>
            <a:r>
              <a:rPr sz="1600" dirty="0" err="1"/>
              <a:t>inconsistencia</a:t>
            </a:r>
            <a:r>
              <a:rPr sz="1600" dirty="0"/>
              <a:t> de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existente</a:t>
            </a:r>
            <a:r>
              <a:rPr sz="1600" dirty="0"/>
              <a:t> entre la </a:t>
            </a:r>
            <a:r>
              <a:rPr sz="1600" dirty="0" err="1"/>
              <a:t>infraestructura</a:t>
            </a:r>
            <a:r>
              <a:rPr sz="1600" dirty="0"/>
              <a:t> </a:t>
            </a:r>
            <a:r>
              <a:rPr sz="1600" dirty="0" err="1"/>
              <a:t>física</a:t>
            </a:r>
            <a:r>
              <a:rPr sz="1600" dirty="0"/>
              <a:t> </a:t>
            </a:r>
            <a:r>
              <a:rPr sz="1600" dirty="0" err="1"/>
              <a:t>desplegada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la </a:t>
            </a:r>
            <a:r>
              <a:rPr sz="1600" dirty="0" err="1"/>
              <a:t>vía</a:t>
            </a:r>
            <a:r>
              <a:rPr sz="1600" dirty="0"/>
              <a:t> </a:t>
            </a:r>
            <a:r>
              <a:rPr sz="1600" dirty="0" err="1"/>
              <a:t>pública</a:t>
            </a:r>
            <a:r>
              <a:rPr sz="1600" dirty="0"/>
              <a:t> y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registros</a:t>
            </a:r>
            <a:r>
              <a:rPr sz="1600" dirty="0"/>
              <a:t> </a:t>
            </a:r>
            <a:r>
              <a:rPr sz="1600" dirty="0" err="1"/>
              <a:t>custodiados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el </a:t>
            </a:r>
            <a:r>
              <a:rPr sz="1600" dirty="0" err="1"/>
              <a:t>área</a:t>
            </a:r>
            <a:r>
              <a:rPr sz="1600" dirty="0"/>
              <a:t> de </a:t>
            </a:r>
            <a:r>
              <a:rPr sz="1600" dirty="0" err="1"/>
              <a:t>soporte</a:t>
            </a:r>
            <a:r>
              <a:rPr sz="1600" dirty="0"/>
              <a:t> </a:t>
            </a:r>
            <a:r>
              <a:rPr sz="1600" dirty="0" err="1"/>
              <a:t>técnico</a:t>
            </a:r>
            <a:r>
              <a:rPr sz="1600" dirty="0"/>
              <a:t>. El </a:t>
            </a:r>
            <a:r>
              <a:rPr sz="1600" dirty="0" err="1"/>
              <a:t>seguimiento</a:t>
            </a:r>
            <a:r>
              <a:rPr sz="1600" dirty="0"/>
              <a:t> de </a:t>
            </a:r>
            <a:r>
              <a:rPr sz="1600" dirty="0" err="1"/>
              <a:t>puertos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Cajas </a:t>
            </a:r>
            <a:r>
              <a:rPr sz="1600" dirty="0" err="1"/>
              <a:t>Terminales</a:t>
            </a:r>
            <a:r>
              <a:rPr sz="1600" dirty="0"/>
              <a:t> </a:t>
            </a:r>
            <a:r>
              <a:rPr sz="1600" dirty="0" err="1"/>
              <a:t>Ópticas</a:t>
            </a:r>
            <a:r>
              <a:rPr sz="1600" dirty="0"/>
              <a:t> (NAP) y </a:t>
            </a:r>
            <a:r>
              <a:rPr sz="1600" dirty="0" err="1"/>
              <a:t>Distribuidores</a:t>
            </a:r>
            <a:r>
              <a:rPr sz="1600" dirty="0"/>
              <a:t> </a:t>
            </a:r>
            <a:r>
              <a:rPr sz="1600" dirty="0" err="1"/>
              <a:t>Ópticos</a:t>
            </a:r>
            <a:r>
              <a:rPr sz="1600" dirty="0"/>
              <a:t> (ODF) se </a:t>
            </a:r>
            <a:r>
              <a:rPr sz="1600" dirty="0" err="1"/>
              <a:t>apoya</a:t>
            </a:r>
            <a:r>
              <a:rPr sz="1600" dirty="0"/>
              <a:t> </a:t>
            </a:r>
            <a:r>
              <a:rPr sz="1600" dirty="0" err="1"/>
              <a:t>comúnmente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anotaciones</a:t>
            </a:r>
            <a:r>
              <a:rPr sz="1600" dirty="0"/>
              <a:t> </a:t>
            </a:r>
            <a:r>
              <a:rPr sz="1600" dirty="0" err="1"/>
              <a:t>manuales</a:t>
            </a:r>
            <a:r>
              <a:rPr sz="1600" dirty="0"/>
              <a:t>, </a:t>
            </a:r>
            <a:r>
              <a:rPr sz="1600" dirty="0" err="1"/>
              <a:t>libretas</a:t>
            </a:r>
            <a:r>
              <a:rPr sz="1600" dirty="0"/>
              <a:t> de </a:t>
            </a:r>
            <a:r>
              <a:rPr sz="1600" dirty="0" err="1"/>
              <a:t>papel</a:t>
            </a:r>
            <a:r>
              <a:rPr sz="1600" dirty="0"/>
              <a:t> y hojas de </a:t>
            </a:r>
            <a:r>
              <a:rPr sz="1600" dirty="0" err="1"/>
              <a:t>cálculo</a:t>
            </a:r>
            <a:r>
              <a:rPr sz="1600" dirty="0"/>
              <a:t> </a:t>
            </a:r>
            <a:r>
              <a:rPr sz="1600" dirty="0" err="1"/>
              <a:t>desarticuladas</a:t>
            </a:r>
            <a:r>
              <a:rPr sz="1600" dirty="0"/>
              <a:t>.</a:t>
            </a:r>
          </a:p>
          <a:p>
            <a:pPr algn="just">
              <a:lnSpc>
                <a:spcPct val="125000"/>
              </a:lnSpc>
              <a:spcAft>
                <a:spcPts val="1400"/>
              </a:spcAft>
              <a:defRPr sz="1850">
                <a:solidFill>
                  <a:srgbClr val="1E1E1E"/>
                </a:solidFill>
                <a:latin typeface="Arial"/>
              </a:defRPr>
            </a:pPr>
            <a:r>
              <a:rPr sz="1600" dirty="0"/>
              <a:t>Esta </a:t>
            </a:r>
            <a:r>
              <a:rPr sz="1600" dirty="0" err="1"/>
              <a:t>carencia</a:t>
            </a:r>
            <a:r>
              <a:rPr sz="1600" dirty="0"/>
              <a:t> de </a:t>
            </a:r>
            <a:r>
              <a:rPr sz="1600" dirty="0" err="1"/>
              <a:t>sincronización</a:t>
            </a:r>
            <a:r>
              <a:rPr sz="1600" dirty="0"/>
              <a:t> </a:t>
            </a:r>
            <a:r>
              <a:rPr sz="1600" dirty="0" err="1"/>
              <a:t>inmediata</a:t>
            </a:r>
            <a:r>
              <a:rPr sz="1600" dirty="0"/>
              <a:t> genera </a:t>
            </a:r>
            <a:r>
              <a:rPr sz="1600" dirty="0" err="1"/>
              <a:t>saturación</a:t>
            </a:r>
            <a:r>
              <a:rPr sz="1600" dirty="0"/>
              <a:t> y cruces de </a:t>
            </a:r>
            <a:r>
              <a:rPr sz="1600" dirty="0" err="1"/>
              <a:t>puertos</a:t>
            </a:r>
            <a:r>
              <a:rPr sz="1600" dirty="0"/>
              <a:t> al </a:t>
            </a:r>
            <a:r>
              <a:rPr sz="1600" dirty="0" err="1"/>
              <a:t>asignar</a:t>
            </a:r>
            <a:r>
              <a:rPr sz="1600" dirty="0"/>
              <a:t> </a:t>
            </a:r>
            <a:r>
              <a:rPr sz="1600" dirty="0" err="1"/>
              <a:t>servicios</a:t>
            </a:r>
            <a:r>
              <a:rPr sz="1600" dirty="0"/>
              <a:t> a </a:t>
            </a:r>
            <a:r>
              <a:rPr sz="1600" dirty="0" err="1"/>
              <a:t>conectores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figuran</a:t>
            </a:r>
            <a:r>
              <a:rPr sz="1600" dirty="0"/>
              <a:t> </a:t>
            </a:r>
            <a:r>
              <a:rPr sz="1600" dirty="0" err="1"/>
              <a:t>como</a:t>
            </a:r>
            <a:r>
              <a:rPr sz="1600" dirty="0"/>
              <a:t> </a:t>
            </a:r>
            <a:r>
              <a:rPr sz="1600" dirty="0" err="1"/>
              <a:t>libres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la </a:t>
            </a:r>
            <a:r>
              <a:rPr sz="1600" dirty="0" err="1"/>
              <a:t>documentación</a:t>
            </a:r>
            <a:r>
              <a:rPr sz="1600" dirty="0"/>
              <a:t> </a:t>
            </a:r>
            <a:r>
              <a:rPr sz="1600" dirty="0" err="1"/>
              <a:t>pero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se </a:t>
            </a:r>
            <a:r>
              <a:rPr sz="1600" dirty="0" err="1"/>
              <a:t>encuentran</a:t>
            </a:r>
            <a:r>
              <a:rPr sz="1600" dirty="0"/>
              <a:t> </a:t>
            </a:r>
            <a:r>
              <a:rPr sz="1600" dirty="0" err="1"/>
              <a:t>físicamente</a:t>
            </a:r>
            <a:r>
              <a:rPr sz="1600" dirty="0"/>
              <a:t> </a:t>
            </a:r>
            <a:r>
              <a:rPr sz="1600" dirty="0" err="1"/>
              <a:t>conectados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campo, </a:t>
            </a:r>
            <a:r>
              <a:rPr sz="1600" dirty="0" err="1"/>
              <a:t>derivando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suspensiones</a:t>
            </a:r>
            <a:r>
              <a:rPr sz="1600" dirty="0"/>
              <a:t> </a:t>
            </a:r>
            <a:r>
              <a:rPr sz="1600" dirty="0" err="1"/>
              <a:t>accidentales</a:t>
            </a:r>
            <a:r>
              <a:rPr sz="1600" dirty="0"/>
              <a:t> a </a:t>
            </a:r>
            <a:r>
              <a:rPr sz="1600" dirty="0" err="1"/>
              <a:t>clientes</a:t>
            </a:r>
            <a:r>
              <a:rPr sz="1600" dirty="0"/>
              <a:t> </a:t>
            </a:r>
            <a:r>
              <a:rPr sz="1600" dirty="0" err="1"/>
              <a:t>activos</a:t>
            </a:r>
            <a:r>
              <a:rPr sz="1600" dirty="0"/>
              <a:t>. </a:t>
            </a:r>
            <a:r>
              <a:rPr sz="1600" dirty="0" err="1"/>
              <a:t>Asimismo</a:t>
            </a:r>
            <a:r>
              <a:rPr sz="1600" dirty="0"/>
              <a:t>, </a:t>
            </a:r>
            <a:r>
              <a:rPr sz="1600" dirty="0" err="1"/>
              <a:t>durante</a:t>
            </a:r>
            <a:r>
              <a:rPr sz="1600" dirty="0"/>
              <a:t> las </a:t>
            </a:r>
            <a:r>
              <a:rPr sz="1600" dirty="0" err="1"/>
              <a:t>intervenciones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postes</a:t>
            </a:r>
            <a:r>
              <a:rPr sz="1600" dirty="0"/>
              <a:t> </a:t>
            </a:r>
            <a:r>
              <a:rPr sz="1600" dirty="0" err="1"/>
              <a:t>ubicados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zonas rurales sin </a:t>
            </a:r>
            <a:r>
              <a:rPr sz="1600" dirty="0" err="1"/>
              <a:t>cobertura</a:t>
            </a:r>
            <a:r>
              <a:rPr sz="1600" dirty="0"/>
              <a:t> </a:t>
            </a:r>
            <a:r>
              <a:rPr sz="1600" dirty="0" err="1"/>
              <a:t>celular</a:t>
            </a:r>
            <a:r>
              <a:rPr sz="1600" dirty="0"/>
              <a:t>, el personal </a:t>
            </a:r>
            <a:r>
              <a:rPr sz="1600" dirty="0" err="1"/>
              <a:t>técnico</a:t>
            </a:r>
            <a:r>
              <a:rPr sz="1600" dirty="0"/>
              <a:t> </a:t>
            </a:r>
            <a:r>
              <a:rPr sz="1600" dirty="0" err="1"/>
              <a:t>carece</a:t>
            </a:r>
            <a:r>
              <a:rPr sz="1600" dirty="0"/>
              <a:t> de </a:t>
            </a:r>
            <a:r>
              <a:rPr sz="1600" dirty="0" err="1"/>
              <a:t>conectividad</a:t>
            </a:r>
            <a:r>
              <a:rPr sz="1600" dirty="0"/>
              <a:t> para </a:t>
            </a:r>
            <a:r>
              <a:rPr sz="1600" dirty="0" err="1"/>
              <a:t>consultar</a:t>
            </a:r>
            <a:r>
              <a:rPr sz="1600" dirty="0"/>
              <a:t> la </a:t>
            </a:r>
            <a:r>
              <a:rPr sz="1600" dirty="0" err="1"/>
              <a:t>disponibilidad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tiempo</a:t>
            </a:r>
            <a:r>
              <a:rPr sz="1600" dirty="0"/>
              <a:t> real, </a:t>
            </a:r>
            <a:r>
              <a:rPr sz="1600" dirty="0" err="1"/>
              <a:t>viéndose</a:t>
            </a:r>
            <a:r>
              <a:rPr sz="1600" dirty="0"/>
              <a:t> </a:t>
            </a:r>
            <a:r>
              <a:rPr sz="1600" dirty="0" err="1"/>
              <a:t>obligado</a:t>
            </a:r>
            <a:r>
              <a:rPr sz="1600" dirty="0"/>
              <a:t> a </a:t>
            </a:r>
            <a:r>
              <a:rPr sz="1600" dirty="0" err="1"/>
              <a:t>realizar</a:t>
            </a:r>
            <a:r>
              <a:rPr sz="1600" dirty="0"/>
              <a:t> </a:t>
            </a:r>
            <a:r>
              <a:rPr sz="1600" dirty="0" err="1"/>
              <a:t>conexiones</a:t>
            </a:r>
            <a:r>
              <a:rPr sz="1600" dirty="0"/>
              <a:t> a </a:t>
            </a:r>
            <a:r>
              <a:rPr sz="1600" dirty="0" err="1"/>
              <a:t>ciegas</a:t>
            </a:r>
            <a:r>
              <a:rPr sz="1600" dirty="0"/>
              <a:t>, lo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ocasiona</a:t>
            </a:r>
            <a:r>
              <a:rPr sz="1600" dirty="0"/>
              <a:t> </a:t>
            </a:r>
            <a:r>
              <a:rPr sz="1600" dirty="0" err="1"/>
              <a:t>duplicidad</a:t>
            </a:r>
            <a:r>
              <a:rPr sz="1600" dirty="0"/>
              <a:t> de </a:t>
            </a:r>
            <a:r>
              <a:rPr sz="1600" dirty="0" err="1"/>
              <a:t>registros</a:t>
            </a:r>
            <a:r>
              <a:rPr sz="1600" dirty="0"/>
              <a:t>, </a:t>
            </a:r>
            <a:r>
              <a:rPr sz="1600" dirty="0" err="1"/>
              <a:t>fallas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atenuación</a:t>
            </a:r>
            <a:r>
              <a:rPr sz="1600" dirty="0"/>
              <a:t> </a:t>
            </a:r>
            <a:r>
              <a:rPr sz="1600" dirty="0" err="1"/>
              <a:t>excesiva</a:t>
            </a:r>
            <a:r>
              <a:rPr sz="1600" dirty="0"/>
              <a:t> y </a:t>
            </a:r>
            <a:r>
              <a:rPr sz="1600" dirty="0" err="1"/>
              <a:t>traslados</a:t>
            </a:r>
            <a:r>
              <a:rPr sz="1600" dirty="0"/>
              <a:t> </a:t>
            </a:r>
            <a:r>
              <a:rPr sz="1600" dirty="0" err="1"/>
              <a:t>infructuosos</a:t>
            </a:r>
            <a:r>
              <a:rPr sz="1600" dirty="0"/>
              <a:t> con </a:t>
            </a:r>
            <a:r>
              <a:rPr sz="1600" dirty="0" err="1"/>
              <a:t>pérdidas</a:t>
            </a:r>
            <a:r>
              <a:rPr sz="1600" dirty="0"/>
              <a:t> </a:t>
            </a:r>
            <a:r>
              <a:rPr sz="1600" dirty="0" err="1"/>
              <a:t>sustanciales</a:t>
            </a:r>
            <a:r>
              <a:rPr sz="1600" dirty="0"/>
              <a:t> de </a:t>
            </a:r>
            <a:r>
              <a:rPr sz="1600" dirty="0" err="1"/>
              <a:t>tiempo</a:t>
            </a:r>
            <a:r>
              <a:rPr sz="1600" dirty="0"/>
              <a:t> y </a:t>
            </a:r>
            <a:r>
              <a:rPr sz="1600" dirty="0" err="1"/>
              <a:t>recursos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19695" y="22860"/>
            <a:ext cx="3840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5A6828"/>
                </a:solidFill>
                <a:latin typeface="Arial"/>
              </a:defRPr>
            </a:pPr>
            <a: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" y="978857"/>
            <a:ext cx="10362895" cy="4621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4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importancia</a:t>
            </a:r>
            <a:r>
              <a:rPr dirty="0"/>
              <a:t> de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proyecto</a:t>
            </a:r>
            <a:r>
              <a:rPr dirty="0"/>
              <a:t> reside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dotar</a:t>
            </a:r>
            <a:r>
              <a:rPr dirty="0"/>
              <a:t> al personal de campo y al </a:t>
            </a:r>
            <a:r>
              <a:rPr lang="es-MX" dirty="0"/>
              <a:t>personal</a:t>
            </a:r>
            <a:r>
              <a:rPr dirty="0"/>
              <a:t> de </a:t>
            </a:r>
            <a:r>
              <a:rPr dirty="0" err="1"/>
              <a:t>soporte</a:t>
            </a:r>
            <a:r>
              <a:rPr dirty="0"/>
              <a:t> 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informática</a:t>
            </a:r>
            <a:r>
              <a:rPr dirty="0"/>
              <a:t> </a:t>
            </a:r>
            <a:r>
              <a:rPr dirty="0" err="1"/>
              <a:t>especializada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elimine</a:t>
            </a:r>
            <a:r>
              <a:rPr dirty="0"/>
              <a:t> las </a:t>
            </a:r>
            <a:r>
              <a:rPr dirty="0" err="1"/>
              <a:t>asimetrías</a:t>
            </a:r>
            <a:r>
              <a:rPr dirty="0"/>
              <a:t> de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red de </a:t>
            </a:r>
            <a:r>
              <a:rPr dirty="0" err="1"/>
              <a:t>fibra</a:t>
            </a:r>
            <a:r>
              <a:rPr dirty="0"/>
              <a:t> </a:t>
            </a:r>
            <a:r>
              <a:rPr dirty="0" err="1"/>
              <a:t>óptica</a:t>
            </a:r>
            <a:r>
              <a:rPr dirty="0"/>
              <a:t>. </a:t>
            </a:r>
            <a:r>
              <a:rPr dirty="0" err="1"/>
              <a:t>Desde</a:t>
            </a:r>
            <a:r>
              <a:rPr dirty="0"/>
              <a:t> el punto de vista </a:t>
            </a:r>
            <a:r>
              <a:rPr dirty="0" err="1"/>
              <a:t>operativo</a:t>
            </a:r>
            <a:r>
              <a:rPr dirty="0"/>
              <a:t>, </a:t>
            </a:r>
            <a:r>
              <a:rPr dirty="0" err="1"/>
              <a:t>proveer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al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instalador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certificar</a:t>
            </a:r>
            <a:r>
              <a:rPr dirty="0"/>
              <a:t> la </a:t>
            </a:r>
            <a:r>
              <a:rPr dirty="0" err="1"/>
              <a:t>asignación</a:t>
            </a:r>
            <a:r>
              <a:rPr dirty="0"/>
              <a:t> de </a:t>
            </a:r>
            <a:r>
              <a:rPr dirty="0" err="1"/>
              <a:t>puertos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instante</a:t>
            </a:r>
            <a:r>
              <a:rPr dirty="0"/>
              <a:t> </a:t>
            </a:r>
            <a:r>
              <a:rPr dirty="0" err="1"/>
              <a:t>exacto</a:t>
            </a:r>
            <a:r>
              <a:rPr dirty="0"/>
              <a:t> de la </a:t>
            </a:r>
            <a:r>
              <a:rPr dirty="0" err="1"/>
              <a:t>conexión</a:t>
            </a:r>
            <a:r>
              <a:rPr dirty="0"/>
              <a:t> </a:t>
            </a:r>
            <a:r>
              <a:rPr dirty="0" err="1"/>
              <a:t>física</a:t>
            </a:r>
            <a:r>
              <a:rPr dirty="0"/>
              <a:t>, </a:t>
            </a:r>
            <a:r>
              <a:rPr dirty="0" err="1"/>
              <a:t>minimizando</a:t>
            </a:r>
            <a:r>
              <a:rPr dirty="0"/>
              <a:t> </a:t>
            </a:r>
            <a:r>
              <a:rPr dirty="0" err="1"/>
              <a:t>drásticamente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tiempos</a:t>
            </a:r>
            <a:r>
              <a:rPr dirty="0"/>
              <a:t> de </a:t>
            </a:r>
            <a:r>
              <a:rPr dirty="0" err="1"/>
              <a:t>atención</a:t>
            </a:r>
            <a:r>
              <a:rPr dirty="0"/>
              <a:t> y </a:t>
            </a:r>
            <a:r>
              <a:rPr dirty="0" err="1"/>
              <a:t>resolución</a:t>
            </a:r>
            <a:r>
              <a:rPr dirty="0"/>
              <a:t> de </a:t>
            </a:r>
            <a:r>
              <a:rPr dirty="0" err="1"/>
              <a:t>averías</a:t>
            </a:r>
            <a:r>
              <a:rPr dirty="0"/>
              <a:t>, </a:t>
            </a:r>
            <a:r>
              <a:rPr dirty="0" err="1"/>
              <a:t>además</a:t>
            </a:r>
            <a:r>
              <a:rPr dirty="0"/>
              <a:t> de </a:t>
            </a:r>
            <a:r>
              <a:rPr dirty="0" err="1"/>
              <a:t>suprimir</a:t>
            </a:r>
            <a:r>
              <a:rPr dirty="0"/>
              <a:t> </a:t>
            </a:r>
            <a:r>
              <a:rPr dirty="0" err="1"/>
              <a:t>traslados</a:t>
            </a:r>
            <a:r>
              <a:rPr dirty="0"/>
              <a:t> </a:t>
            </a:r>
            <a:r>
              <a:rPr dirty="0" err="1"/>
              <a:t>innecesarios</a:t>
            </a:r>
            <a:r>
              <a:rPr dirty="0"/>
              <a:t> para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disponibilidad</a:t>
            </a:r>
            <a:r>
              <a:rPr dirty="0"/>
              <a:t>.</a:t>
            </a:r>
          </a:p>
          <a:p>
            <a:pPr algn="just">
              <a:lnSpc>
                <a:spcPct val="125000"/>
              </a:lnSpc>
              <a:spcAft>
                <a:spcPts val="14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rPr dirty="0" err="1"/>
              <a:t>Desde</a:t>
            </a:r>
            <a:r>
              <a:rPr dirty="0"/>
              <a:t> la </a:t>
            </a:r>
            <a:r>
              <a:rPr dirty="0" err="1"/>
              <a:t>perspectiva</a:t>
            </a:r>
            <a:r>
              <a:rPr dirty="0"/>
              <a:t> </a:t>
            </a:r>
            <a:r>
              <a:rPr dirty="0" err="1"/>
              <a:t>tecnológica</a:t>
            </a:r>
            <a:r>
              <a:rPr dirty="0"/>
              <a:t> y </a:t>
            </a:r>
            <a:r>
              <a:rPr dirty="0" err="1"/>
              <a:t>académica</a:t>
            </a:r>
            <a:r>
              <a:rPr dirty="0"/>
              <a:t>, el </a:t>
            </a:r>
            <a:r>
              <a:rPr dirty="0" err="1"/>
              <a:t>proyecto</a:t>
            </a:r>
            <a:r>
              <a:rPr dirty="0"/>
              <a:t> es viable </a:t>
            </a:r>
            <a:r>
              <a:rPr dirty="0" err="1"/>
              <a:t>puesto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fundamenta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 </a:t>
            </a:r>
            <a:r>
              <a:rPr dirty="0" err="1"/>
              <a:t>modernas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y </a:t>
            </a:r>
            <a:r>
              <a:rPr dirty="0" err="1"/>
              <a:t>estándares</a:t>
            </a:r>
            <a:r>
              <a:rPr dirty="0"/>
              <a:t> </a:t>
            </a:r>
            <a:r>
              <a:rPr dirty="0" err="1"/>
              <a:t>consolidados</a:t>
            </a:r>
            <a:r>
              <a:rPr dirty="0"/>
              <a:t> con control de </a:t>
            </a:r>
            <a:r>
              <a:rPr dirty="0" err="1"/>
              <a:t>concurrencia</a:t>
            </a:r>
            <a:r>
              <a:rPr dirty="0"/>
              <a:t> </a:t>
            </a:r>
            <a:r>
              <a:rPr dirty="0" err="1"/>
              <a:t>transaccional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PostgreSQL, </a:t>
            </a:r>
            <a:r>
              <a:rPr dirty="0" err="1"/>
              <a:t>impidiendo</a:t>
            </a:r>
            <a:r>
              <a:rPr dirty="0"/>
              <a:t> </a:t>
            </a:r>
            <a:r>
              <a:rPr dirty="0" err="1"/>
              <a:t>matemáticamente</a:t>
            </a:r>
            <a:r>
              <a:rPr dirty="0"/>
              <a:t> la </a:t>
            </a:r>
            <a:r>
              <a:rPr dirty="0" err="1"/>
              <a:t>sobreventa</a:t>
            </a:r>
            <a:r>
              <a:rPr dirty="0"/>
              <a:t> de </a:t>
            </a:r>
            <a:r>
              <a:rPr dirty="0" err="1"/>
              <a:t>puertos</a:t>
            </a:r>
            <a:r>
              <a:rPr dirty="0"/>
              <a:t>. </a:t>
            </a:r>
            <a:r>
              <a:rPr dirty="0" err="1"/>
              <a:t>Asimismo</a:t>
            </a:r>
            <a:r>
              <a:rPr dirty="0"/>
              <a:t>, la </a:t>
            </a:r>
            <a:r>
              <a:rPr dirty="0" err="1"/>
              <a:t>integración</a:t>
            </a:r>
            <a:r>
              <a:rPr dirty="0"/>
              <a:t> del </a:t>
            </a:r>
            <a:r>
              <a:rPr dirty="0" err="1"/>
              <a:t>enfoque</a:t>
            </a:r>
            <a:r>
              <a:rPr dirty="0"/>
              <a:t> Offline-First </a:t>
            </a:r>
            <a:r>
              <a:rPr dirty="0" err="1"/>
              <a:t>resuelve</a:t>
            </a:r>
            <a:r>
              <a:rPr dirty="0"/>
              <a:t> el </a:t>
            </a:r>
            <a:r>
              <a:rPr dirty="0" err="1"/>
              <a:t>desafío</a:t>
            </a:r>
            <a:r>
              <a:rPr dirty="0"/>
              <a:t> de </a:t>
            </a:r>
            <a:r>
              <a:rPr dirty="0" err="1"/>
              <a:t>operar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zonas rurales sin </a:t>
            </a:r>
            <a:r>
              <a:rPr dirty="0" err="1"/>
              <a:t>señal</a:t>
            </a:r>
            <a:r>
              <a:rPr dirty="0"/>
              <a:t> </a:t>
            </a:r>
            <a:r>
              <a:rPr dirty="0" err="1"/>
              <a:t>móvil</a:t>
            </a:r>
            <a:r>
              <a:rPr dirty="0"/>
              <a:t>, </a:t>
            </a:r>
            <a:r>
              <a:rPr dirty="0" err="1"/>
              <a:t>garantizando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las cuadrillas </a:t>
            </a:r>
            <a:r>
              <a:rPr dirty="0" err="1"/>
              <a:t>capturen</a:t>
            </a:r>
            <a:r>
              <a:rPr dirty="0"/>
              <a:t> y </a:t>
            </a:r>
            <a:r>
              <a:rPr dirty="0" err="1"/>
              <a:t>consulten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sitio con </a:t>
            </a:r>
            <a:r>
              <a:rPr dirty="0" err="1"/>
              <a:t>sincronización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al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celular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44207" y="297180"/>
            <a:ext cx="4315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5A6828"/>
                </a:solidFill>
                <a:latin typeface="Arial"/>
              </a:defRPr>
            </a:pPr>
            <a:r>
              <a:rPr dirty="0" err="1"/>
              <a:t>Objetivos</a:t>
            </a:r>
            <a:r>
              <a:rPr dirty="0"/>
              <a:t>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" y="1096905"/>
            <a:ext cx="10362895" cy="3605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A6828"/>
                </a:solidFill>
                <a:latin typeface="Arial"/>
              </a:defRPr>
            </a:pPr>
            <a:r>
              <a:rPr dirty="0" err="1"/>
              <a:t>Objetivo</a:t>
            </a:r>
            <a:r>
              <a:rPr dirty="0"/>
              <a:t> General:</a:t>
            </a:r>
          </a:p>
          <a:p>
            <a:pPr algn="just">
              <a:lnSpc>
                <a:spcPct val="120000"/>
              </a:lnSpc>
              <a:spcAft>
                <a:spcPts val="14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rPr dirty="0" err="1"/>
              <a:t>Desarrollar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aplicación</a:t>
            </a:r>
            <a:r>
              <a:rPr dirty="0"/>
              <a:t> web para el </a:t>
            </a:r>
            <a:r>
              <a:rPr dirty="0" err="1"/>
              <a:t>inventario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</a:t>
            </a:r>
            <a:r>
              <a:rPr dirty="0" err="1"/>
              <a:t>lógico</a:t>
            </a:r>
            <a:r>
              <a:rPr dirty="0"/>
              <a:t> de redes GPON / FTTx, </a:t>
            </a:r>
            <a:r>
              <a:rPr dirty="0" err="1"/>
              <a:t>mediante</a:t>
            </a:r>
            <a:r>
              <a:rPr dirty="0"/>
              <a:t> el </a:t>
            </a:r>
            <a:r>
              <a:rPr dirty="0" err="1"/>
              <a:t>diseño</a:t>
            </a:r>
            <a:r>
              <a:rPr dirty="0"/>
              <a:t> de vistas </a:t>
            </a:r>
            <a:r>
              <a:rPr dirty="0" err="1"/>
              <a:t>tabulares</a:t>
            </a:r>
            <a:r>
              <a:rPr dirty="0"/>
              <a:t> y </a:t>
            </a:r>
            <a:r>
              <a:rPr dirty="0" err="1"/>
              <a:t>diagramas</a:t>
            </a:r>
            <a:r>
              <a:rPr dirty="0"/>
              <a:t> </a:t>
            </a:r>
            <a:r>
              <a:rPr dirty="0" err="1"/>
              <a:t>lógicos</a:t>
            </a:r>
            <a:r>
              <a:rPr dirty="0"/>
              <a:t> </a:t>
            </a:r>
            <a:r>
              <a:rPr dirty="0" err="1"/>
              <a:t>interactivos</a:t>
            </a:r>
            <a:r>
              <a:rPr dirty="0"/>
              <a:t>, para </a:t>
            </a:r>
            <a:r>
              <a:rPr dirty="0" err="1"/>
              <a:t>optimizar</a:t>
            </a:r>
            <a:r>
              <a:rPr dirty="0"/>
              <a:t> el control de la </a:t>
            </a:r>
            <a:r>
              <a:rPr dirty="0" err="1"/>
              <a:t>infraestructura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del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y de </a:t>
            </a:r>
            <a:r>
              <a:rPr dirty="0" err="1"/>
              <a:t>soporte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GPON TELECOM S.A. de C.V.</a:t>
            </a:r>
          </a:p>
          <a:p>
            <a:pPr>
              <a:spcAft>
                <a:spcPts val="400"/>
              </a:spcAft>
              <a:defRPr sz="1700" b="1">
                <a:solidFill>
                  <a:srgbClr val="5A6828"/>
                </a:solidFill>
                <a:latin typeface="Arial"/>
              </a:defRPr>
            </a:pP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:</a:t>
            </a:r>
          </a:p>
          <a:p>
            <a:pPr algn="just">
              <a:lnSpc>
                <a:spcPct val="118000"/>
              </a:lnSpc>
              <a:spcAft>
                <a:spcPts val="600"/>
              </a:spcAft>
              <a:defRPr sz="1550">
                <a:solidFill>
                  <a:srgbClr val="1E1E1E"/>
                </a:solidFill>
                <a:latin typeface="Arial"/>
              </a:defRPr>
            </a:pPr>
            <a:r>
              <a:rPr dirty="0"/>
              <a:t>1. </a:t>
            </a:r>
            <a:r>
              <a:rPr dirty="0" err="1"/>
              <a:t>Analizar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requerimientos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 de la red de </a:t>
            </a:r>
            <a:r>
              <a:rPr dirty="0" err="1"/>
              <a:t>fibra</a:t>
            </a:r>
            <a:r>
              <a:rPr dirty="0"/>
              <a:t> </a:t>
            </a:r>
            <a:r>
              <a:rPr dirty="0" err="1"/>
              <a:t>óptica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el </a:t>
            </a:r>
            <a:r>
              <a:rPr dirty="0" err="1"/>
              <a:t>levantamiento</a:t>
            </a:r>
            <a:r>
              <a:rPr dirty="0"/>
              <a:t> de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el hardware (NAP/ODF), para </a:t>
            </a:r>
            <a:r>
              <a:rPr dirty="0" err="1"/>
              <a:t>diseñar</a:t>
            </a:r>
            <a:r>
              <a:rPr dirty="0"/>
              <a:t> la </a:t>
            </a:r>
            <a:r>
              <a:rPr dirty="0" err="1"/>
              <a:t>arquitectura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y el </a:t>
            </a:r>
            <a:r>
              <a:rPr dirty="0" err="1"/>
              <a:t>modelo</a:t>
            </a:r>
            <a:r>
              <a:rPr dirty="0"/>
              <a:t> de la base de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pPr algn="just">
              <a:lnSpc>
                <a:spcPct val="118000"/>
              </a:lnSpc>
              <a:spcAft>
                <a:spcPts val="600"/>
              </a:spcAft>
              <a:defRPr sz="1550">
                <a:solidFill>
                  <a:srgbClr val="1E1E1E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interfaz</a:t>
            </a:r>
            <a:r>
              <a:rPr dirty="0"/>
              <a:t> web </a:t>
            </a:r>
            <a:r>
              <a:rPr dirty="0" err="1"/>
              <a:t>responsiva</a:t>
            </a:r>
            <a:r>
              <a:rPr dirty="0"/>
              <a:t> a </a:t>
            </a:r>
            <a:r>
              <a:rPr dirty="0" err="1"/>
              <a:t>través</a:t>
            </a:r>
            <a:r>
              <a:rPr dirty="0"/>
              <a:t> del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tecnologías</a:t>
            </a:r>
            <a:r>
              <a:rPr dirty="0"/>
              <a:t> de </a:t>
            </a:r>
            <a:r>
              <a:rPr dirty="0" err="1"/>
              <a:t>desarrollo</a:t>
            </a:r>
            <a:r>
              <a:rPr dirty="0"/>
              <a:t> frontend, para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 de campo </a:t>
            </a:r>
            <a:r>
              <a:rPr dirty="0" err="1"/>
              <a:t>actualicen</a:t>
            </a:r>
            <a:r>
              <a:rPr dirty="0"/>
              <a:t> y </a:t>
            </a:r>
            <a:r>
              <a:rPr dirty="0" err="1"/>
              <a:t>consulten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 el </a:t>
            </a:r>
            <a:r>
              <a:rPr dirty="0" err="1"/>
              <a:t>estado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puertos</a:t>
            </a:r>
            <a:r>
              <a:rPr dirty="0"/>
              <a:t> (</a:t>
            </a:r>
            <a:r>
              <a:rPr dirty="0" err="1"/>
              <a:t>libres</a:t>
            </a:r>
            <a:r>
              <a:rPr dirty="0"/>
              <a:t>, </a:t>
            </a:r>
            <a:r>
              <a:rPr dirty="0" err="1"/>
              <a:t>ocupados</a:t>
            </a:r>
            <a:r>
              <a:rPr dirty="0"/>
              <a:t>, </a:t>
            </a:r>
            <a:r>
              <a:rPr dirty="0" err="1"/>
              <a:t>dañados</a:t>
            </a:r>
            <a:r>
              <a:rPr dirty="0"/>
              <a:t>).</a:t>
            </a:r>
          </a:p>
          <a:p>
            <a:pPr algn="just">
              <a:lnSpc>
                <a:spcPct val="118000"/>
              </a:lnSpc>
              <a:spcAft>
                <a:spcPts val="600"/>
              </a:spcAft>
              <a:defRPr sz="1550">
                <a:solidFill>
                  <a:srgbClr val="1E1E1E"/>
                </a:solidFill>
                <a:latin typeface="Arial"/>
              </a:defRPr>
            </a:pPr>
            <a:r>
              <a:rPr dirty="0"/>
              <a:t>3. Programar el backend del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la </a:t>
            </a:r>
            <a:r>
              <a:rPr dirty="0" err="1"/>
              <a:t>creación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API </a:t>
            </a:r>
            <a:r>
              <a:rPr dirty="0" err="1"/>
              <a:t>centralizada</a:t>
            </a:r>
            <a:r>
              <a:rPr dirty="0"/>
              <a:t> con control </a:t>
            </a:r>
            <a:r>
              <a:rPr dirty="0" err="1"/>
              <a:t>transaccional</a:t>
            </a:r>
            <a:r>
              <a:rPr dirty="0"/>
              <a:t>, para </a:t>
            </a:r>
            <a:r>
              <a:rPr dirty="0" err="1"/>
              <a:t>gestionar</a:t>
            </a:r>
            <a:r>
              <a:rPr dirty="0"/>
              <a:t> la </a:t>
            </a:r>
            <a:r>
              <a:rPr dirty="0" err="1"/>
              <a:t>información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activos</a:t>
            </a:r>
            <a:r>
              <a:rPr dirty="0"/>
              <a:t> y </a:t>
            </a:r>
            <a:r>
              <a:rPr dirty="0" err="1"/>
              <a:t>vincular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puertos</a:t>
            </a:r>
            <a:r>
              <a:rPr dirty="0"/>
              <a:t> de red </a:t>
            </a:r>
            <a:r>
              <a:rPr dirty="0" err="1"/>
              <a:t>correspondientes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19695" y="164148"/>
            <a:ext cx="3840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5A6828"/>
                </a:solidFill>
                <a:latin typeface="Arial"/>
              </a:defRPr>
            </a:pPr>
            <a:r>
              <a:rPr dirty="0" err="1"/>
              <a:t>Herramientas</a:t>
            </a:r>
            <a:endParaRPr dirty="0"/>
          </a:p>
        </p:txBody>
      </p:sp>
      <p:pic>
        <p:nvPicPr>
          <p:cNvPr id="5" name="Imagen 4" descr="Node Js Logo Transparent">
            <a:extLst>
              <a:ext uri="{FF2B5EF4-FFF2-40B4-BE49-F238E27FC236}">
                <a16:creationId xmlns:a16="http://schemas.microsoft.com/office/drawing/2014/main" id="{179E93DD-F3D0-B40B-920B-E6C5BB2D8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1" y="1061202"/>
            <a:ext cx="1955800" cy="1196586"/>
          </a:xfrm>
          <a:prstGeom prst="rect">
            <a:avLst/>
          </a:prstGeom>
        </p:spPr>
      </p:pic>
      <p:pic>
        <p:nvPicPr>
          <p:cNvPr id="6" name="Imagen 5" descr="Express.js Blog Engine | ButterCMS">
            <a:extLst>
              <a:ext uri="{FF2B5EF4-FFF2-40B4-BE49-F238E27FC236}">
                <a16:creationId xmlns:a16="http://schemas.microsoft.com/office/drawing/2014/main" id="{62357236-E574-B17B-201B-D119D60A9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531458"/>
            <a:ext cx="2751291" cy="751719"/>
          </a:xfrm>
          <a:prstGeom prst="rect">
            <a:avLst/>
          </a:prstGeom>
        </p:spPr>
      </p:pic>
      <p:pic>
        <p:nvPicPr>
          <p:cNvPr id="7" name="Imagen 6" descr="Shaon Dasgupta">
            <a:extLst>
              <a:ext uri="{FF2B5EF4-FFF2-40B4-BE49-F238E27FC236}">
                <a16:creationId xmlns:a16="http://schemas.microsoft.com/office/drawing/2014/main" id="{4153EAFE-B519-F7B4-E087-D47E6F873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2531023"/>
            <a:ext cx="1727200" cy="1727200"/>
          </a:xfrm>
          <a:prstGeom prst="rect">
            <a:avLst/>
          </a:prstGeom>
        </p:spPr>
      </p:pic>
      <p:pic>
        <p:nvPicPr>
          <p:cNvPr id="8" name="Imagen 7" descr="Introduction to Sequelize ORM | Matej Jelluš">
            <a:extLst>
              <a:ext uri="{FF2B5EF4-FFF2-40B4-BE49-F238E27FC236}">
                <a16:creationId xmlns:a16="http://schemas.microsoft.com/office/drawing/2014/main" id="{5CDF1320-B57B-1345-E98C-46C3D31DC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0932" y="2531023"/>
            <a:ext cx="1563086" cy="1563086"/>
          </a:xfrm>
          <a:prstGeom prst="rect">
            <a:avLst/>
          </a:prstGeom>
        </p:spPr>
      </p:pic>
      <p:pic>
        <p:nvPicPr>
          <p:cNvPr id="9" name="Imagen 8" descr="PostgreSQL vs. SQL Server: Which Is Better For You? | Airbyte">
            <a:extLst>
              <a:ext uri="{FF2B5EF4-FFF2-40B4-BE49-F238E27FC236}">
                <a16:creationId xmlns:a16="http://schemas.microsoft.com/office/drawing/2014/main" id="{2588B70E-54BB-949D-E77F-A33FDA6131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0930" y="1061202"/>
            <a:ext cx="1834917" cy="1838229"/>
          </a:xfrm>
          <a:prstGeom prst="rect">
            <a:avLst/>
          </a:prstGeom>
        </p:spPr>
      </p:pic>
      <p:pic>
        <p:nvPicPr>
          <p:cNvPr id="10" name="Imagen 9" descr="Neon - Serverless Postgres - Visual Studio Marketplace">
            <a:extLst>
              <a:ext uri="{FF2B5EF4-FFF2-40B4-BE49-F238E27FC236}">
                <a16:creationId xmlns:a16="http://schemas.microsoft.com/office/drawing/2014/main" id="{F08C5612-16D9-C59E-078E-E8DBFEE61E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6845" y="3188662"/>
            <a:ext cx="1563086" cy="153981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8AC9D70-D460-1DD4-FB7F-F50337A34EF8}"/>
              </a:ext>
            </a:extLst>
          </p:cNvPr>
          <p:cNvSpPr txBox="1"/>
          <p:nvPr/>
        </p:nvSpPr>
        <p:spPr>
          <a:xfrm>
            <a:off x="495300" y="566376"/>
            <a:ext cx="1727200" cy="375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0BB1876-BB3B-78E2-2268-D9F10C47841A}"/>
              </a:ext>
            </a:extLst>
          </p:cNvPr>
          <p:cNvSpPr txBox="1"/>
          <p:nvPr/>
        </p:nvSpPr>
        <p:spPr>
          <a:xfrm>
            <a:off x="4463897" y="627317"/>
            <a:ext cx="195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Base de datos</a:t>
            </a: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DDDFFC6-9904-7EE8-9BE0-26C84A2FAC67}"/>
              </a:ext>
            </a:extLst>
          </p:cNvPr>
          <p:cNvSpPr txBox="1"/>
          <p:nvPr/>
        </p:nvSpPr>
        <p:spPr>
          <a:xfrm>
            <a:off x="7838072" y="1083645"/>
            <a:ext cx="1563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lang="es-MX" dirty="0"/>
          </a:p>
        </p:txBody>
      </p:sp>
      <p:pic>
        <p:nvPicPr>
          <p:cNvPr id="16" name="Imagen 15" descr="How to speed up your React development with Vite - React.js - B-Devcom">
            <a:extLst>
              <a:ext uri="{FF2B5EF4-FFF2-40B4-BE49-F238E27FC236}">
                <a16:creationId xmlns:a16="http://schemas.microsoft.com/office/drawing/2014/main" id="{9BF6C2A0-9B51-B5D8-1398-FDF217D2F92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5302"/>
          <a:stretch>
            <a:fillRect/>
          </a:stretch>
        </p:blipFill>
        <p:spPr>
          <a:xfrm>
            <a:off x="7680348" y="1595234"/>
            <a:ext cx="2610720" cy="1130693"/>
          </a:xfrm>
          <a:prstGeom prst="rect">
            <a:avLst/>
          </a:prstGeom>
        </p:spPr>
      </p:pic>
      <p:pic>
        <p:nvPicPr>
          <p:cNvPr id="17" name="Imagen 16" descr="Tìm Hiểu Về Tailwind CSS">
            <a:extLst>
              <a:ext uri="{FF2B5EF4-FFF2-40B4-BE49-F238E27FC236}">
                <a16:creationId xmlns:a16="http://schemas.microsoft.com/office/drawing/2014/main" id="{CCB01274-C78C-8399-5A7F-136D855FA7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8072" y="2604824"/>
            <a:ext cx="1838229" cy="1838229"/>
          </a:xfrm>
          <a:prstGeom prst="rect">
            <a:avLst/>
          </a:prstGeom>
        </p:spPr>
      </p:pic>
      <p:pic>
        <p:nvPicPr>
          <p:cNvPr id="18" name="Imagen 17" descr="Interactive Maps in React with Leaflet">
            <a:extLst>
              <a:ext uri="{FF2B5EF4-FFF2-40B4-BE49-F238E27FC236}">
                <a16:creationId xmlns:a16="http://schemas.microsoft.com/office/drawing/2014/main" id="{900BDEF2-3DF1-5F7F-66BF-806116BBF2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4907" y="4568917"/>
            <a:ext cx="1761394" cy="9907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19695" y="411480"/>
            <a:ext cx="3840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5A6828"/>
                </a:solidFill>
                <a:latin typeface="Arial"/>
              </a:defRPr>
            </a:pPr>
            <a: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361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1400"/>
              </a:spcAft>
              <a:defRPr sz="1950">
                <a:solidFill>
                  <a:srgbClr val="1E1E1E"/>
                </a:solidFill>
                <a:latin typeface="Arial"/>
              </a:defRPr>
            </a:pPr>
            <a:r>
              <a:rPr dirty="0"/>
              <a:t>El </a:t>
            </a:r>
            <a:r>
              <a:rPr dirty="0" err="1"/>
              <a:t>desarrollo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web de </a:t>
            </a:r>
            <a:r>
              <a:rPr dirty="0" err="1"/>
              <a:t>inventario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</a:t>
            </a:r>
            <a:r>
              <a:rPr dirty="0" err="1"/>
              <a:t>lógico</a:t>
            </a:r>
            <a:r>
              <a:rPr dirty="0"/>
              <a:t> </a:t>
            </a:r>
            <a:r>
              <a:rPr dirty="0" err="1"/>
              <a:t>representa</a:t>
            </a:r>
            <a:r>
              <a:rPr lang="es-MX" dirty="0" err="1"/>
              <a:t>ra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solución</a:t>
            </a:r>
            <a:r>
              <a:rPr dirty="0"/>
              <a:t> integral y </a:t>
            </a:r>
            <a:r>
              <a:rPr dirty="0" err="1"/>
              <a:t>definitiva</a:t>
            </a:r>
            <a:r>
              <a:rPr dirty="0"/>
              <a:t> a la </a:t>
            </a:r>
            <a:r>
              <a:rPr dirty="0" err="1"/>
              <a:t>problemática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 de GPON TELECOM S.A. de C.V. </a:t>
            </a:r>
            <a:r>
              <a:rPr dirty="0" err="1"/>
              <a:t>en</a:t>
            </a:r>
            <a:r>
              <a:rPr dirty="0"/>
              <a:t> San José del Rincón. La </a:t>
            </a:r>
            <a:r>
              <a:rPr dirty="0" err="1"/>
              <a:t>digitalización</a:t>
            </a:r>
            <a:r>
              <a:rPr dirty="0"/>
              <a:t> y </a:t>
            </a:r>
            <a:r>
              <a:rPr dirty="0" err="1"/>
              <a:t>georreferenciación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activos</a:t>
            </a:r>
            <a:r>
              <a:rPr dirty="0"/>
              <a:t> de planta externa </a:t>
            </a:r>
            <a:r>
              <a:rPr dirty="0" err="1"/>
              <a:t>erradica</a:t>
            </a:r>
            <a:r>
              <a:rPr dirty="0"/>
              <a:t> la </a:t>
            </a:r>
            <a:r>
              <a:rPr dirty="0" err="1"/>
              <a:t>dependencia</a:t>
            </a:r>
            <a:r>
              <a:rPr dirty="0"/>
              <a:t> de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papel</a:t>
            </a:r>
            <a:r>
              <a:rPr dirty="0"/>
              <a:t>, </a:t>
            </a:r>
            <a:r>
              <a:rPr dirty="0" err="1"/>
              <a:t>garantizando</a:t>
            </a:r>
            <a:r>
              <a:rPr dirty="0"/>
              <a:t> un control </a:t>
            </a:r>
            <a:r>
              <a:rPr dirty="0" err="1"/>
              <a:t>riguroso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ocupación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divisor </a:t>
            </a:r>
            <a:r>
              <a:rPr dirty="0" err="1"/>
              <a:t>óptico</a:t>
            </a:r>
            <a:r>
              <a:rPr dirty="0"/>
              <a:t> y </a:t>
            </a:r>
            <a:r>
              <a:rPr dirty="0" err="1"/>
              <a:t>evitando</a:t>
            </a:r>
            <a:r>
              <a:rPr dirty="0"/>
              <a:t> la </a:t>
            </a:r>
            <a:r>
              <a:rPr dirty="0" err="1"/>
              <a:t>sobreventa</a:t>
            </a:r>
            <a:r>
              <a:rPr dirty="0"/>
              <a:t> o </a:t>
            </a:r>
            <a:r>
              <a:rPr dirty="0" err="1"/>
              <a:t>cruce</a:t>
            </a:r>
            <a:r>
              <a:rPr dirty="0"/>
              <a:t> de </a:t>
            </a:r>
            <a:r>
              <a:rPr dirty="0" err="1"/>
              <a:t>puertos</a:t>
            </a:r>
            <a:r>
              <a:rPr dirty="0"/>
              <a:t>.</a:t>
            </a:r>
          </a:p>
          <a:p>
            <a:pPr algn="just">
              <a:lnSpc>
                <a:spcPct val="125000"/>
              </a:lnSpc>
              <a:spcAft>
                <a:spcPts val="1400"/>
              </a:spcAft>
              <a:defRPr sz="1950">
                <a:solidFill>
                  <a:srgbClr val="1E1E1E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integración</a:t>
            </a:r>
            <a:r>
              <a:rPr dirty="0"/>
              <a:t> del motor </a:t>
            </a:r>
            <a:r>
              <a:rPr dirty="0" err="1"/>
              <a:t>transaccional</a:t>
            </a:r>
            <a:r>
              <a:rPr dirty="0"/>
              <a:t> con </a:t>
            </a:r>
            <a:r>
              <a:rPr dirty="0" err="1"/>
              <a:t>bloqueo</a:t>
            </a:r>
            <a:r>
              <a:rPr dirty="0"/>
              <a:t> </a:t>
            </a:r>
            <a:r>
              <a:rPr dirty="0" err="1"/>
              <a:t>pesimista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PostgreSQL y la </a:t>
            </a:r>
            <a:r>
              <a:rPr dirty="0" err="1"/>
              <a:t>arquitectura</a:t>
            </a:r>
            <a:r>
              <a:rPr dirty="0"/>
              <a:t> Offline-First </a:t>
            </a:r>
            <a:r>
              <a:rPr dirty="0" err="1"/>
              <a:t>asegura</a:t>
            </a:r>
            <a:r>
              <a:rPr dirty="0"/>
              <a:t> tanto la </a:t>
            </a:r>
            <a:r>
              <a:rPr dirty="0" err="1"/>
              <a:t>integridad</a:t>
            </a:r>
            <a:r>
              <a:rPr dirty="0"/>
              <a:t> </a:t>
            </a:r>
            <a:r>
              <a:rPr dirty="0" err="1"/>
              <a:t>absoluta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la </a:t>
            </a:r>
            <a:r>
              <a:rPr dirty="0" err="1"/>
              <a:t>continuidad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 de las cuadrillas </a:t>
            </a:r>
            <a:r>
              <a:rPr dirty="0" err="1"/>
              <a:t>en</a:t>
            </a:r>
            <a:r>
              <a:rPr dirty="0"/>
              <a:t> zonas rurales sin </a:t>
            </a:r>
            <a:r>
              <a:rPr dirty="0" err="1"/>
              <a:t>señal</a:t>
            </a:r>
            <a:r>
              <a:rPr dirty="0"/>
              <a:t> </a:t>
            </a:r>
            <a:r>
              <a:rPr dirty="0" err="1"/>
              <a:t>celular</a:t>
            </a:r>
            <a:r>
              <a:rPr dirty="0"/>
              <a:t>. Con </a:t>
            </a:r>
            <a:r>
              <a:rPr dirty="0" err="1"/>
              <a:t>ello</a:t>
            </a:r>
            <a:r>
              <a:rPr dirty="0"/>
              <a:t> se </a:t>
            </a:r>
            <a:r>
              <a:rPr dirty="0" err="1"/>
              <a:t>logra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disminución</a:t>
            </a:r>
            <a:r>
              <a:rPr dirty="0"/>
              <a:t> </a:t>
            </a:r>
            <a:r>
              <a:rPr dirty="0" err="1"/>
              <a:t>sustancial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tiempos</a:t>
            </a:r>
            <a:r>
              <a:rPr dirty="0"/>
              <a:t> de </a:t>
            </a:r>
            <a:r>
              <a:rPr dirty="0" err="1"/>
              <a:t>instalación</a:t>
            </a:r>
            <a:r>
              <a:rPr dirty="0"/>
              <a:t>, </a:t>
            </a:r>
            <a:r>
              <a:rPr dirty="0" err="1"/>
              <a:t>eliminación</a:t>
            </a:r>
            <a:r>
              <a:rPr dirty="0"/>
              <a:t> de </a:t>
            </a:r>
            <a:r>
              <a:rPr dirty="0" err="1"/>
              <a:t>quejas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desconexiones</a:t>
            </a:r>
            <a:r>
              <a:rPr dirty="0"/>
              <a:t> </a:t>
            </a:r>
            <a:r>
              <a:rPr dirty="0" err="1"/>
              <a:t>involuntarias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escalable</a:t>
            </a:r>
            <a:r>
              <a:rPr dirty="0"/>
              <a:t> para </a:t>
            </a:r>
            <a:r>
              <a:rPr dirty="0" err="1"/>
              <a:t>soportar</a:t>
            </a:r>
            <a:r>
              <a:rPr dirty="0"/>
              <a:t> el </a:t>
            </a:r>
            <a:r>
              <a:rPr dirty="0" err="1"/>
              <a:t>crecimiento</a:t>
            </a:r>
            <a:r>
              <a:rPr dirty="0"/>
              <a:t> continuo de la </a:t>
            </a:r>
            <a:r>
              <a:rPr dirty="0" err="1"/>
              <a:t>infraestructura</a:t>
            </a:r>
            <a:r>
              <a:rPr dirty="0"/>
              <a:t> de </a:t>
            </a:r>
            <a:r>
              <a:rPr dirty="0" err="1"/>
              <a:t>telecomunicaciones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896</Words>
  <Application>Microsoft Office PowerPoint</Application>
  <PresentationFormat>Panorámica</PresentationFormat>
  <Paragraphs>29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Mauricio Nolazco</cp:lastModifiedBy>
  <cp:revision>4</cp:revision>
  <dcterms:created xsi:type="dcterms:W3CDTF">2013-01-27T09:14:16Z</dcterms:created>
  <dcterms:modified xsi:type="dcterms:W3CDTF">2026-09-21T03:36:16Z</dcterms:modified>
  <cp:category/>
</cp:coreProperties>
</file>